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5" r:id="rId12"/>
    <p:sldId id="286" r:id="rId13"/>
    <p:sldId id="287" r:id="rId14"/>
    <p:sldId id="266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4" r:id="rId23"/>
    <p:sldId id="285" r:id="rId24"/>
    <p:sldId id="269" r:id="rId25"/>
    <p:sldId id="271" r:id="rId26"/>
    <p:sldId id="272" r:id="rId27"/>
    <p:sldId id="273" r:id="rId28"/>
    <p:sldId id="274" r:id="rId2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8F8"/>
    <a:srgbClr val="EFE5E5"/>
    <a:srgbClr val="F0E8FA"/>
    <a:srgbClr val="CBA7A8"/>
    <a:srgbClr val="ADB9CA"/>
    <a:srgbClr val="F2EAEA"/>
    <a:srgbClr val="485870"/>
    <a:srgbClr val="637A9B"/>
    <a:srgbClr val="556885"/>
    <a:srgbClr val="5A6E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9" d="100"/>
          <a:sy n="59" d="100"/>
        </p:scale>
        <p:origin x="34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627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MicroMouse autonomous maze-solving robot project — Interfacing Techniques course 2025–2026.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overview: what MicroMouse is and our 6 core technical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Trello was used to manage the entire project. Show how each list tracked a different aspect of the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phases from December 2025 to February 2026. Each phase tracked on Trello.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10 hardware components with photos. Each tracked as a card in the Trello Hardware Components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ESP32 is the central MCU. Key features: dual-core, WiFi, dual I²C, hardware interrupts for encoders, PWM for motors. The 3.3V limit is critical — we burned one unit by exceeding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VL53L0X LiDAR sensors provide wall detection front, left, and right. LiDAR was chosen over IR/ultrasonic for its ±1–2mm accuracy and clean I²C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DC gear motors with quadrature encoders provide drive and odometry. L298N H-bridge handles bidirectional PWM. PD controller equalizes wheel speeds using encoder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IMU provides gyroscope data for accurate turning. Power system includes battery, boost converter for stable voltage, and a switch for safe power-on procedures.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Mechanical design used CAD + 3D printing. Two iterations needed for correct motor mount tolerances. Lab bookings tracked on Trello.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algorithms compared. Flood-Fill was chosen for its efficiency, dynamic adaptability, and minimal memory use — perfect for unknown-maze navigation on a constrained MCU.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Burning the ESP32 was our biggest setback but made our final design much more robust through proper voltage protection and staged testing protocols.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Bottom-up testing approach: each component validated independently before integration. Three phases: unit tests, integration tests, full maze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goals achieved. 100% maze completion, accurate motion control, live WiFi dashboard. Key lessons around voltage protection and staged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improvements: speed optimization, mechanical upgrades, software enhancements, and official competition compliance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Conclusion: all goals met. The robot successfully explores and solves unknown mazes with accurate motion control and live WiFi tuning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3504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87198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67707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32280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05506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10080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71876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23540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52507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76608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44752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259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919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164592" cy="51435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" y="0"/>
            <a:ext cx="164592" cy="51435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777240" y="91440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chemeClr val="accent6">
                    <a:lumMod val="50000"/>
                  </a:schemeClr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MicroMouse</a:t>
            </a:r>
            <a:endParaRPr lang="en-US" sz="5200" dirty="0">
              <a:solidFill>
                <a:schemeClr val="accent6">
                  <a:lumMod val="5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777240" y="1773936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chemeClr val="accent6">
                    <a:lumMod val="50000"/>
                  </a:schemeClr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Robot</a:t>
            </a:r>
            <a:endParaRPr lang="en-US" sz="5200" dirty="0">
              <a:solidFill>
                <a:schemeClr val="accent6">
                  <a:lumMod val="50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777239" y="275274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Maze-Solving Robot</a:t>
            </a:r>
            <a:endParaRPr lang="en-US" sz="1600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Text 18"/>
          <p:cNvSpPr/>
          <p:nvPr/>
        </p:nvSpPr>
        <p:spPr>
          <a:xfrm>
            <a:off x="777239" y="3136392"/>
            <a:ext cx="3182511" cy="27432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ESP32  ·  LiDAR  ·  Flood-Fill BFS  ·  PD Control  ·  WiFi</a:t>
            </a:r>
            <a:endParaRPr lang="en-US" sz="11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7" name="Text 20"/>
          <p:cNvSpPr/>
          <p:nvPr/>
        </p:nvSpPr>
        <p:spPr>
          <a:xfrm>
            <a:off x="777240" y="4700016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Techniques  ·  Academic Year 2025–2026  ·  February 28 2026</a:t>
            </a:r>
            <a:endParaRPr lang="en-US" sz="11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DEBB8526-20B6-6006-A5BD-9213D5A8FBC0}"/>
              </a:ext>
            </a:extLst>
          </p:cNvPr>
          <p:cNvSpPr/>
          <p:nvPr/>
        </p:nvSpPr>
        <p:spPr>
          <a:xfrm>
            <a:off x="777239" y="3758184"/>
            <a:ext cx="53241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: Aya Fares, Nagham Massis, Alzahra Nassif, Marah </a:t>
            </a:r>
            <a:r>
              <a:rPr lang="en-US" sz="1450" i="1" dirty="0" err="1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Hamarsheh</a:t>
            </a:r>
            <a:endParaRPr lang="en-US" sz="145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92F7F718-5862-9323-9690-0084271A5357}"/>
              </a:ext>
            </a:extLst>
          </p:cNvPr>
          <p:cNvSpPr/>
          <p:nvPr/>
        </p:nvSpPr>
        <p:spPr>
          <a:xfrm>
            <a:off x="777239" y="40782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Dr. Wasel </a:t>
            </a:r>
            <a:r>
              <a:rPr lang="en-US" sz="1450" dirty="0" err="1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Ghanam</a:t>
            </a:r>
            <a:endParaRPr lang="en-US" sz="145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A142C70-4101-CE2E-6736-B11C0D7206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21" t="6248" r="6067" b="7183"/>
          <a:stretch>
            <a:fillRect/>
          </a:stretch>
        </p:blipFill>
        <p:spPr>
          <a:xfrm>
            <a:off x="6488264" y="-79512"/>
            <a:ext cx="2802040" cy="5300190"/>
          </a:xfrm>
          <a:prstGeom prst="rect">
            <a:avLst/>
          </a:prstGeom>
          <a:effectLst>
            <a:softEdge rad="762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chemeClr val="accent5">
              <a:lumMod val="90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Text 1"/>
          <p:cNvSpPr/>
          <p:nvPr/>
        </p:nvSpPr>
        <p:spPr>
          <a:xfrm>
            <a:off x="347472" y="292608"/>
            <a:ext cx="8449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80467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MicroMouse? What did we set out to build?</a:t>
            </a:r>
            <a:endParaRPr lang="en-US" sz="1400" b="1" dirty="0"/>
          </a:p>
        </p:txBody>
      </p:sp>
      <p:sp>
        <p:nvSpPr>
          <p:cNvPr id="5" name="Shape 3"/>
          <p:cNvSpPr/>
          <p:nvPr/>
        </p:nvSpPr>
        <p:spPr>
          <a:xfrm>
            <a:off x="438911" y="1188720"/>
            <a:ext cx="3491957" cy="3456432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EDE5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4155" y="1465534"/>
            <a:ext cx="2920546" cy="2890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solidFill>
              <a:schemeClr val="accent4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" y="324612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006215" y="3227277"/>
            <a:ext cx="1185149" cy="356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179629" y="46432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MicroMouse System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434840" y="1078992"/>
            <a:ext cx="4434840" cy="1417320"/>
          </a:xfrm>
          <a:prstGeom prst="rect">
            <a:avLst/>
          </a:prstGeom>
          <a:solidFill>
            <a:srgbClr val="FAF8F8"/>
          </a:solidFill>
          <a:ln w="6350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20" name="Text 17"/>
          <p:cNvSpPr/>
          <p:nvPr/>
        </p:nvSpPr>
        <p:spPr>
          <a:xfrm>
            <a:off x="4617720" y="117043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MicroMouse?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617720" y="1536192"/>
            <a:ext cx="4069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robot that navigates and solves an unknown 16×16 maze as fast as possible. A classic IEEE robotics competition since 1977. No human control once started.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434840" y="2651760"/>
            <a:ext cx="2103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26280" y="2761488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bg2">
                <a:lumMod val="50000"/>
              </a:scheme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28616" y="27432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VL53L0X LiDAR sensors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647688" y="2651760"/>
            <a:ext cx="2103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39128" y="2761488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4">
                <a:lumMod val="50000"/>
              </a:scheme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41464" y="27432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Flood-Fill BFS algorithm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434840" y="3310128"/>
            <a:ext cx="2103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FE5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26280" y="3419856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rgbClr val="C25FA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28616" y="340156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motor control loops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647688" y="3310128"/>
            <a:ext cx="2103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739128" y="3419856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rgbClr val="EFE5E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41464" y="3401568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dual I²C bus setup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434840" y="3968496"/>
            <a:ext cx="2103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26280" y="4078224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28616" y="4059936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Gyroscope accurate turns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647688" y="3968496"/>
            <a:ext cx="21031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739128" y="4078224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rgbClr val="ADB9C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141464" y="4059936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WiFi tuning dashboard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0" y="4910328"/>
            <a:ext cx="9058031" cy="201168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 </a:t>
            </a:r>
            <a:endParaRPr lang="en-US" sz="850" dirty="0"/>
          </a:p>
        </p:txBody>
      </p:sp>
      <p:sp>
        <p:nvSpPr>
          <p:cNvPr id="44" name="Shape 3">
            <a:extLst>
              <a:ext uri="{FF2B5EF4-FFF2-40B4-BE49-F238E27FC236}">
                <a16:creationId xmlns:a16="http://schemas.microsoft.com/office/drawing/2014/main" id="{DE8FA7F9-0801-75B3-EEB3-04807E43A317}"/>
              </a:ext>
            </a:extLst>
          </p:cNvPr>
          <p:cNvSpPr/>
          <p:nvPr/>
        </p:nvSpPr>
        <p:spPr>
          <a:xfrm>
            <a:off x="584191" y="1331652"/>
            <a:ext cx="3219996" cy="315762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EDE5F7"/>
            </a:solidFill>
            <a:prstDash val="solid"/>
          </a:ln>
        </p:spPr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26B07C1E-31C7-407F-362F-12A50454D47F}"/>
              </a:ext>
            </a:extLst>
          </p:cNvPr>
          <p:cNvSpPr/>
          <p:nvPr/>
        </p:nvSpPr>
        <p:spPr>
          <a:xfrm>
            <a:off x="744155" y="1465534"/>
            <a:ext cx="2920546" cy="2890834"/>
          </a:xfrm>
          <a:prstGeom prst="ellipse">
            <a:avLst/>
          </a:prstGeom>
          <a:solidFill>
            <a:srgbClr val="FAF8F8"/>
          </a:solidFill>
          <a:ln w="1270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12AD4358-3223-B488-8982-0B071B4856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18" b="18274"/>
          <a:stretch>
            <a:fillRect/>
          </a:stretch>
        </p:blipFill>
        <p:spPr>
          <a:xfrm>
            <a:off x="1039764" y="1716935"/>
            <a:ext cx="2287768" cy="2400002"/>
          </a:xfrm>
          <a:prstGeom prst="rect">
            <a:avLst/>
          </a:prstGeom>
          <a:effectLst>
            <a:softEdge rad="1143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2">
                <a:lumMod val="20000"/>
                <a:lumOff val="80000"/>
              </a:scheme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92608"/>
            <a:ext cx="8449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Project Management — Trello Board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735193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organized our entire workflow 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78992"/>
            <a:ext cx="5029200" cy="3063240"/>
          </a:xfrm>
          <a:prstGeom prst="rect">
            <a:avLst/>
          </a:prstGeom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577840" y="1078992"/>
            <a:ext cx="3246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1078992"/>
            <a:ext cx="201168" cy="658368"/>
          </a:xfrm>
          <a:prstGeom prst="rect">
            <a:avLst/>
          </a:prstGeom>
          <a:solidFill>
            <a:schemeClr val="accent6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07024" y="11521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— Main Timeline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07024" y="14447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phases tracked end-to-end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1847088"/>
            <a:ext cx="3246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1847088"/>
            <a:ext cx="201168" cy="658368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07024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07024" y="221284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parts with photos &amp; receipts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77840" y="2615184"/>
            <a:ext cx="3246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77840" y="2615184"/>
            <a:ext cx="201168" cy="658368"/>
          </a:xfrm>
          <a:prstGeom prst="rect">
            <a:avLst/>
          </a:prstGeom>
          <a:solidFill>
            <a:schemeClr val="accent4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07024" y="26883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Next Tasks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907024" y="29809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Always-visible next actions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577840" y="3383280"/>
            <a:ext cx="3246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577840" y="3383280"/>
            <a:ext cx="201168" cy="658368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07024" y="3456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REMINDERS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907024" y="37490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bookings, backups, tests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577840" y="4151376"/>
            <a:ext cx="3246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577840" y="4151376"/>
            <a:ext cx="201168" cy="658368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07024" y="42245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Videos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907024" y="45171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comparison recordings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02920" y="4315968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-187569" y="4903470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FE5E5"/>
          </a:solidFill>
          <a:ln w="12700">
            <a:solidFill>
              <a:srgbClr val="EF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92608"/>
            <a:ext cx="8449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Project Timeline — 6 Phases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743009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2025 → February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86384" y="1720009"/>
            <a:ext cx="7589520" cy="54864"/>
          </a:xfrm>
          <a:prstGeom prst="rect">
            <a:avLst/>
          </a:prstGeom>
          <a:solidFill>
            <a:srgbClr val="EFE5E5"/>
          </a:solidFill>
          <a:ln w="12700">
            <a:solidFill>
              <a:srgbClr val="E8E0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" y="1154761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25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795528" y="1527985"/>
            <a:ext cx="438912" cy="438912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" y="152798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2058337"/>
            <a:ext cx="12984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2058337"/>
            <a:ext cx="1298448" cy="27432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0624" y="2085769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38912" y="2396665"/>
            <a:ext cx="1170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MicroMouse competitions, algorithms, sensor options</a:t>
            </a:r>
            <a:endParaRPr 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Text 15"/>
          <p:cNvSpPr/>
          <p:nvPr/>
        </p:nvSpPr>
        <p:spPr>
          <a:xfrm>
            <a:off x="1865376" y="11518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25</a:t>
            </a:r>
            <a:endParaRPr lang="en-US" sz="1200" dirty="0">
              <a:solidFill>
                <a:schemeClr val="accent6"/>
              </a:solidFill>
            </a:endParaRPr>
          </a:p>
        </p:txBody>
      </p:sp>
      <p:sp>
        <p:nvSpPr>
          <p:cNvPr id="20" name="Shape 16"/>
          <p:cNvSpPr/>
          <p:nvPr/>
        </p:nvSpPr>
        <p:spPr>
          <a:xfrm>
            <a:off x="2221992" y="1527985"/>
            <a:ext cx="438912" cy="438912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221992" y="152798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1792224" y="2058337"/>
            <a:ext cx="12984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1792224" y="2058337"/>
            <a:ext cx="1298448" cy="274320"/>
          </a:xfrm>
          <a:prstGeom prst="rect">
            <a:avLst/>
          </a:prstGeom>
          <a:solidFill>
            <a:schemeClr val="accent6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847088" y="2085769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865376" y="2396665"/>
            <a:ext cx="1170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400" dirty="0">
                <a:solidFill>
                  <a:schemeClr val="tx2">
                    <a:lumMod val="75000"/>
                  </a:schemeClr>
                </a:solidFill>
              </a:rPr>
              <a:t>Designed the alpha version and optimized robot geometry using </a:t>
            </a:r>
            <a:r>
              <a:rPr lang="en-GB" sz="1400" b="1" dirty="0">
                <a:solidFill>
                  <a:schemeClr val="tx2">
                    <a:lumMod val="75000"/>
                  </a:schemeClr>
                </a:solidFill>
              </a:rPr>
              <a:t>Autodesk Fusion</a:t>
            </a:r>
            <a:r>
              <a:rPr lang="en-GB" sz="1400" dirty="0">
                <a:solidFill>
                  <a:schemeClr val="tx2">
                    <a:lumMod val="75000"/>
                  </a:schemeClr>
                </a:solidFill>
              </a:rPr>
              <a:t>.</a:t>
            </a:r>
            <a:endParaRPr 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9" name="Text 24"/>
          <p:cNvSpPr/>
          <p:nvPr/>
        </p:nvSpPr>
        <p:spPr>
          <a:xfrm>
            <a:off x="3236976" y="11518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25</a:t>
            </a:r>
            <a:endParaRPr lang="en-US" sz="12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0" name="Shape 25"/>
          <p:cNvSpPr/>
          <p:nvPr/>
        </p:nvSpPr>
        <p:spPr>
          <a:xfrm>
            <a:off x="3648456" y="1527985"/>
            <a:ext cx="438912" cy="43891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648456" y="152798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3218688" y="2058337"/>
            <a:ext cx="12984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3218688" y="2058337"/>
            <a:ext cx="1298448" cy="2743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3273552" y="2085769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3291840" y="2396665"/>
            <a:ext cx="1170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evaluation &amp; purchase. All 10 parts selected</a:t>
            </a:r>
            <a:endParaRPr 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9" name="Text 33"/>
          <p:cNvSpPr/>
          <p:nvPr/>
        </p:nvSpPr>
        <p:spPr>
          <a:xfrm>
            <a:off x="4663440" y="11518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26</a:t>
            </a:r>
            <a:endParaRPr lang="en-US" sz="1200" dirty="0">
              <a:solidFill>
                <a:schemeClr val="accent4"/>
              </a:solidFill>
            </a:endParaRPr>
          </a:p>
        </p:txBody>
      </p:sp>
      <p:sp>
        <p:nvSpPr>
          <p:cNvPr id="40" name="Shape 34"/>
          <p:cNvSpPr/>
          <p:nvPr/>
        </p:nvSpPr>
        <p:spPr>
          <a:xfrm>
            <a:off x="5074920" y="1527985"/>
            <a:ext cx="438912" cy="438912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074920" y="152798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4645152" y="2058337"/>
            <a:ext cx="12984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4645152" y="2058337"/>
            <a:ext cx="1298448" cy="2743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4700016" y="2085769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Printing</a:t>
            </a:r>
            <a:endParaRPr lang="en-US" sz="1000" dirty="0"/>
          </a:p>
        </p:txBody>
      </p:sp>
      <p:sp>
        <p:nvSpPr>
          <p:cNvPr id="49" name="Text 42"/>
          <p:cNvSpPr/>
          <p:nvPr/>
        </p:nvSpPr>
        <p:spPr>
          <a:xfrm>
            <a:off x="6089904" y="11441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26</a:t>
            </a:r>
            <a:endParaRPr lang="en-US" sz="1200" dirty="0">
              <a:solidFill>
                <a:schemeClr val="accent3"/>
              </a:solidFill>
            </a:endParaRPr>
          </a:p>
        </p:txBody>
      </p:sp>
      <p:sp>
        <p:nvSpPr>
          <p:cNvPr id="50" name="Shape 43"/>
          <p:cNvSpPr/>
          <p:nvPr/>
        </p:nvSpPr>
        <p:spPr>
          <a:xfrm>
            <a:off x="6501384" y="1527985"/>
            <a:ext cx="438912" cy="43891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6501384" y="152798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6071616" y="2058337"/>
            <a:ext cx="12984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46"/>
          <p:cNvSpPr/>
          <p:nvPr/>
        </p:nvSpPr>
        <p:spPr>
          <a:xfrm>
            <a:off x="6071616" y="2058337"/>
            <a:ext cx="1298448" cy="274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6135624" y="214954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</a:t>
            </a:r>
            <a:endParaRPr lang="en-US" sz="800" dirty="0"/>
          </a:p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55" name="Text 48"/>
          <p:cNvSpPr/>
          <p:nvPr/>
        </p:nvSpPr>
        <p:spPr>
          <a:xfrm>
            <a:off x="4709160" y="2413103"/>
            <a:ext cx="1170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lab, printed chassis, motor mounts, sensor brackets</a:t>
            </a:r>
            <a:endParaRPr 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9" name="Text 51"/>
          <p:cNvSpPr/>
          <p:nvPr/>
        </p:nvSpPr>
        <p:spPr>
          <a:xfrm>
            <a:off x="7571232" y="115183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26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60" name="Shape 52"/>
          <p:cNvSpPr/>
          <p:nvPr/>
        </p:nvSpPr>
        <p:spPr>
          <a:xfrm>
            <a:off x="7927848" y="1527985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1" name="Text 53"/>
          <p:cNvSpPr/>
          <p:nvPr/>
        </p:nvSpPr>
        <p:spPr>
          <a:xfrm>
            <a:off x="7927848" y="1527985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62" name="Shape 54"/>
          <p:cNvSpPr/>
          <p:nvPr/>
        </p:nvSpPr>
        <p:spPr>
          <a:xfrm>
            <a:off x="7498080" y="2058337"/>
            <a:ext cx="12984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3" name="Shape 55"/>
          <p:cNvSpPr/>
          <p:nvPr/>
        </p:nvSpPr>
        <p:spPr>
          <a:xfrm>
            <a:off x="7498080" y="2058337"/>
            <a:ext cx="1298448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4" name="Text 56"/>
          <p:cNvSpPr/>
          <p:nvPr/>
        </p:nvSpPr>
        <p:spPr>
          <a:xfrm>
            <a:off x="7552944" y="2085769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Test</a:t>
            </a:r>
            <a:endParaRPr lang="en-US" sz="1000" dirty="0"/>
          </a:p>
        </p:txBody>
      </p:sp>
      <p:sp>
        <p:nvSpPr>
          <p:cNvPr id="65" name="Text 57"/>
          <p:cNvSpPr/>
          <p:nvPr/>
        </p:nvSpPr>
        <p:spPr>
          <a:xfrm>
            <a:off x="7571232" y="2396665"/>
            <a:ext cx="1170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Flood-Fill, PD control, WiFi dashboard, full maze tests</a:t>
            </a:r>
            <a:endParaRPr 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6" name="Text 58"/>
          <p:cNvSpPr/>
          <p:nvPr/>
        </p:nvSpPr>
        <p:spPr>
          <a:xfrm>
            <a:off x="-164123" y="4919472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67" name="Text 39">
            <a:extLst>
              <a:ext uri="{FF2B5EF4-FFF2-40B4-BE49-F238E27FC236}">
                <a16:creationId xmlns:a16="http://schemas.microsoft.com/office/drawing/2014/main" id="{95913650-0341-579B-19C6-12183D572EC3}"/>
              </a:ext>
            </a:extLst>
          </p:cNvPr>
          <p:cNvSpPr/>
          <p:nvPr/>
        </p:nvSpPr>
        <p:spPr>
          <a:xfrm>
            <a:off x="6120476" y="2396665"/>
            <a:ext cx="1170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Wiring, I²C buses, motor driver, PCB layout</a:t>
            </a:r>
            <a:endParaRPr 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7472" y="292608"/>
            <a:ext cx="8449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Hardware Components — Complete Bill of Materials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80467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components selected, purchased and verified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1609344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78992"/>
            <a:ext cx="1609344" cy="164592"/>
          </a:xfrm>
          <a:prstGeom prst="rect">
            <a:avLst/>
          </a:prstGeom>
          <a:solidFill>
            <a:srgbClr val="EFE5E5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371600"/>
            <a:ext cx="1371600" cy="868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22951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ESP32-WROOM-32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92608" y="265176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1984248" y="1078992"/>
            <a:ext cx="1609344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984248" y="1078992"/>
            <a:ext cx="1609344" cy="164592"/>
          </a:xfrm>
          <a:prstGeom prst="rect">
            <a:avLst/>
          </a:prstGeom>
          <a:solidFill>
            <a:srgbClr val="F2EAEA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03120" y="1371600"/>
            <a:ext cx="1371600" cy="868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48256" y="22951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Expansion Shield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048256" y="265176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Breakout Board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739896" y="1078992"/>
            <a:ext cx="1609344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739896" y="1078992"/>
            <a:ext cx="1609344" cy="164592"/>
          </a:xfrm>
          <a:prstGeom prst="rect">
            <a:avLst/>
          </a:prstGeom>
          <a:solidFill>
            <a:srgbClr val="EFE5E5"/>
          </a:solidFill>
          <a:ln w="12700">
            <a:solidFill>
              <a:srgbClr val="FAF8F8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58768" y="1371600"/>
            <a:ext cx="1371600" cy="8686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03904" y="22951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Gear Motor + Encoder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803904" y="265176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System × 2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0" name="Shape 15"/>
          <p:cNvSpPr/>
          <p:nvPr/>
        </p:nvSpPr>
        <p:spPr>
          <a:xfrm>
            <a:off x="5495544" y="1078992"/>
            <a:ext cx="1609344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95544" y="1078992"/>
            <a:ext cx="1609344" cy="164592"/>
          </a:xfrm>
          <a:prstGeom prst="rect">
            <a:avLst/>
          </a:prstGeom>
          <a:solidFill>
            <a:srgbClr val="F2EAEA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614416" y="1371600"/>
            <a:ext cx="1371600" cy="8686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59552" y="22951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Motor Driver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559552" y="265176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H-Bridge PWM Control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5" name="Shape 19"/>
          <p:cNvSpPr/>
          <p:nvPr/>
        </p:nvSpPr>
        <p:spPr>
          <a:xfrm>
            <a:off x="7251192" y="1078992"/>
            <a:ext cx="1609344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251192" y="1078992"/>
            <a:ext cx="1609344" cy="164592"/>
          </a:xfrm>
          <a:prstGeom prst="rect">
            <a:avLst/>
          </a:prstGeom>
          <a:solidFill>
            <a:srgbClr val="EFE5E5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370064" y="1371600"/>
            <a:ext cx="1371600" cy="8686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15200" y="229514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VL53L0X LiDAR × 3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315200" y="265176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Time-of-Flight Sensor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0" name="Shape 23"/>
          <p:cNvSpPr/>
          <p:nvPr/>
        </p:nvSpPr>
        <p:spPr>
          <a:xfrm>
            <a:off x="228600" y="3090672"/>
            <a:ext cx="1609344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28600" y="3090672"/>
            <a:ext cx="1609344" cy="155448"/>
          </a:xfrm>
          <a:prstGeom prst="rect">
            <a:avLst/>
          </a:prstGeom>
          <a:solidFill>
            <a:srgbClr val="F2EAEA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47472" y="3383280"/>
            <a:ext cx="1371600" cy="8686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92608" y="430682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IMU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292608" y="466344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Gyroscope + Accel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35" name="Shape 27"/>
          <p:cNvSpPr/>
          <p:nvPr/>
        </p:nvSpPr>
        <p:spPr>
          <a:xfrm>
            <a:off x="1984248" y="3090672"/>
            <a:ext cx="1609344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1984248" y="3090672"/>
            <a:ext cx="1609344" cy="155448"/>
          </a:xfrm>
          <a:prstGeom prst="rect">
            <a:avLst/>
          </a:prstGeom>
          <a:solidFill>
            <a:srgbClr val="EFE5E5"/>
          </a:solidFill>
          <a:ln w="12700">
            <a:solidFill>
              <a:srgbClr val="FAF8F8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103120" y="3383280"/>
            <a:ext cx="1371600" cy="8686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2048256" y="430682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 Battery 9V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2048256" y="466344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Rechargeable Power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40" name="Shape 31"/>
          <p:cNvSpPr/>
          <p:nvPr/>
        </p:nvSpPr>
        <p:spPr>
          <a:xfrm>
            <a:off x="3739896" y="3090672"/>
            <a:ext cx="1609344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3739896" y="3090672"/>
            <a:ext cx="1609344" cy="155448"/>
          </a:xfrm>
          <a:prstGeom prst="rect">
            <a:avLst/>
          </a:prstGeom>
          <a:solidFill>
            <a:srgbClr val="F2EAEA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858768" y="3383280"/>
            <a:ext cx="1371600" cy="86868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803904" y="430682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DC-DC Boost Converter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3803904" y="466344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Regulator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45" name="Shape 35"/>
          <p:cNvSpPr/>
          <p:nvPr/>
        </p:nvSpPr>
        <p:spPr>
          <a:xfrm>
            <a:off x="5495544" y="3090672"/>
            <a:ext cx="1609344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5495544" y="3090672"/>
            <a:ext cx="1609344" cy="155448"/>
          </a:xfrm>
          <a:prstGeom prst="rect">
            <a:avLst/>
          </a:prstGeom>
          <a:solidFill>
            <a:srgbClr val="EFE5E5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614416" y="3383280"/>
            <a:ext cx="1371600" cy="86868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5559552" y="430682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On/Off Power Switch</a:t>
            </a:r>
            <a:endParaRPr lang="en-US" sz="1200" dirty="0"/>
          </a:p>
        </p:txBody>
      </p:sp>
      <p:sp>
        <p:nvSpPr>
          <p:cNvPr id="49" name="Text 38"/>
          <p:cNvSpPr/>
          <p:nvPr/>
        </p:nvSpPr>
        <p:spPr>
          <a:xfrm>
            <a:off x="5559552" y="466344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Control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50" name="Shape 39"/>
          <p:cNvSpPr/>
          <p:nvPr/>
        </p:nvSpPr>
        <p:spPr>
          <a:xfrm>
            <a:off x="7251192" y="3090672"/>
            <a:ext cx="1609344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0"/>
          <p:cNvSpPr/>
          <p:nvPr/>
        </p:nvSpPr>
        <p:spPr>
          <a:xfrm>
            <a:off x="7251192" y="3090672"/>
            <a:ext cx="1609344" cy="155448"/>
          </a:xfrm>
          <a:prstGeom prst="rect">
            <a:avLst/>
          </a:prstGeom>
          <a:solidFill>
            <a:srgbClr val="F2EAEA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370064" y="3383280"/>
            <a:ext cx="1371600" cy="86868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7315200" y="430682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Jumper Wires</a:t>
            </a:r>
            <a:endParaRPr lang="en-US" sz="1200" dirty="0"/>
          </a:p>
        </p:txBody>
      </p:sp>
      <p:sp>
        <p:nvSpPr>
          <p:cNvPr id="54" name="Text 42"/>
          <p:cNvSpPr/>
          <p:nvPr/>
        </p:nvSpPr>
        <p:spPr>
          <a:xfrm>
            <a:off x="7315200" y="4663440"/>
            <a:ext cx="1481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M-M / M-F / F-F Connections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55" name="Text 43"/>
          <p:cNvSpPr/>
          <p:nvPr/>
        </p:nvSpPr>
        <p:spPr>
          <a:xfrm>
            <a:off x="-228600" y="4917186"/>
            <a:ext cx="9247554" cy="256032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7472" y="292608"/>
            <a:ext cx="8449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ESP32-WROOM-32 Microcontroller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80467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brain: dual-core 240MHz, WiFi, dual I²C buses, PWM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3108960" cy="2240280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b="9175"/>
          <a:stretch>
            <a:fillRect/>
          </a:stretch>
        </p:blipFill>
        <p:spPr>
          <a:xfrm>
            <a:off x="411480" y="1170432"/>
            <a:ext cx="2834640" cy="19933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3429000"/>
            <a:ext cx="3108960" cy="1481328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1480" y="3520440"/>
            <a:ext cx="1371600" cy="12618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74520" y="3749040"/>
            <a:ext cx="140817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B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Expansion Shield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6B6B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clean pin access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584448" y="1078992"/>
            <a:ext cx="2560320" cy="1207008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584448" y="1078992"/>
            <a:ext cx="2560320" cy="27432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675888" y="11155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240 MHz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75888" y="142646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Flood-Fill + WiFi server simultaneously without lag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81928" y="1078992"/>
            <a:ext cx="2560320" cy="1207008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81928" y="1078992"/>
            <a:ext cx="2560320" cy="27432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73368" y="11155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WiFi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373368" y="142646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async web server, live PID dashboard, no extra module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584448" y="2450592"/>
            <a:ext cx="2560320" cy="1207008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584448" y="2450592"/>
            <a:ext cx="2560320" cy="27432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675888" y="24871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I²C Buses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675888" y="279806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0 → MPU6050 (GPIO 19/18). Bus 1 → 3× LiDAR (GPIO 5/17)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281928" y="2450592"/>
            <a:ext cx="2560320" cy="1207008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281928" y="2450592"/>
            <a:ext cx="2560320" cy="27432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373368" y="24871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 Interrupt Pins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373368" y="279806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33/32 and 34/35 count encoder pulses at high frequency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3584448" y="3822192"/>
            <a:ext cx="2560320" cy="1207008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584448" y="3822192"/>
            <a:ext cx="2560320" cy="27432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675888" y="38587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(LEDC)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3675888" y="416966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13, 25, 26 generate PWM for L298N motor speed control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281928" y="3822192"/>
            <a:ext cx="2560320" cy="1207008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289743" y="3822192"/>
            <a:ext cx="2560320" cy="27432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373368" y="38587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 Logic — Critical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6373368" y="416966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sensors/drivers must stay ≤3.3V. Exceeded → burned chip!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0" y="4887468"/>
            <a:ext cx="9026769" cy="256032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7472" y="292608"/>
            <a:ext cx="8449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Component — VL53L0X LiDAR Sensors × 3</a:t>
            </a:r>
            <a:endParaRPr lang="en-US" sz="2400" dirty="0">
              <a:solidFill>
                <a:schemeClr val="tx2">
                  <a:lumMod val="75000"/>
                </a:schemeClr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812487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eyes: Time-of-Flight laser ranging for wall detection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423160" cy="2286000"/>
          </a:xfrm>
          <a:prstGeom prst="rect">
            <a:avLst/>
          </a:prstGeom>
          <a:solidFill>
            <a:srgbClr val="FAF8F8"/>
          </a:solidFill>
          <a:ln w="6350">
            <a:solidFill>
              <a:srgbClr val="FAF8F8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048" y="1170432"/>
            <a:ext cx="2194560" cy="2057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3493008"/>
            <a:ext cx="2423160" cy="1444752"/>
          </a:xfrm>
          <a:prstGeom prst="rect">
            <a:avLst/>
          </a:prstGeom>
          <a:solidFill>
            <a:srgbClr val="FAF8F8"/>
          </a:solidFill>
          <a:ln w="6350">
            <a:solidFill>
              <a:srgbClr val="FAF8F8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3767328"/>
            <a:ext cx="12070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solidFill>
                <a:srgbClr val="FAF8F8"/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1266092" y="3546328"/>
            <a:ext cx="457200" cy="193568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6092" y="3552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538089" y="4097880"/>
            <a:ext cx="475488" cy="201168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8089" y="409788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947672" y="4092448"/>
            <a:ext cx="475488" cy="20116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947672" y="409244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926080" y="1313531"/>
            <a:ext cx="5943600" cy="1874520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994660" y="1245186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Technology Comparison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993778"/>
              </p:ext>
            </p:extLst>
          </p:nvPr>
        </p:nvGraphicFramePr>
        <p:xfrm>
          <a:off x="2971800" y="1536192"/>
          <a:ext cx="5852160" cy="16459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Sensor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VL53L0X 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±10–50 mm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±5 mm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±1–2 mm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of View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 / noisy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 / echo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 25°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Immune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I²C Interface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presence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space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Precise walls</a:t>
                      </a:r>
                      <a:endParaRPr lang="en-US" sz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2926080" y="3730752"/>
            <a:ext cx="1874520" cy="1207008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26080" y="3440879"/>
            <a:ext cx="1874520" cy="2743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994660" y="3461453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SENSOR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2" name="Text 18"/>
          <p:cNvSpPr/>
          <p:nvPr/>
        </p:nvSpPr>
        <p:spPr>
          <a:xfrm>
            <a:off x="3017520" y="3429000"/>
            <a:ext cx="171907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solidFill>
                <a:schemeClr val="tx2">
                  <a:lumMod val="7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wall ahead. Triggers stop or turn decision. Threshold: &lt; 150mm = wall present.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3" name="Shape 19"/>
          <p:cNvSpPr/>
          <p:nvPr/>
        </p:nvSpPr>
        <p:spPr>
          <a:xfrm>
            <a:off x="4910328" y="3730752"/>
            <a:ext cx="1874520" cy="1207008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910328" y="3456666"/>
            <a:ext cx="1874520" cy="2743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933188" y="3461453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r>
              <a:rPr lang="en-US" sz="10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SENSOR</a:t>
            </a:r>
            <a:endParaRPr lang="en-US" sz="1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6" name="Text 22"/>
          <p:cNvSpPr/>
          <p:nvPr/>
        </p:nvSpPr>
        <p:spPr>
          <a:xfrm>
            <a:off x="5001768" y="3429000"/>
            <a:ext cx="171907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left wall. Decides if left turn is possible. XSHUT pin cycles address at boot.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7" name="Shape 23"/>
          <p:cNvSpPr/>
          <p:nvPr/>
        </p:nvSpPr>
        <p:spPr>
          <a:xfrm>
            <a:off x="6894576" y="3730752"/>
            <a:ext cx="1874520" cy="1207008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894576" y="3456432"/>
            <a:ext cx="1874520" cy="2743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967728" y="34747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SENSOR</a:t>
            </a:r>
            <a:endParaRPr lang="en-US" sz="1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0" name="Text 26"/>
          <p:cNvSpPr/>
          <p:nvPr/>
        </p:nvSpPr>
        <p:spPr>
          <a:xfrm>
            <a:off x="6986016" y="3429000"/>
            <a:ext cx="1719072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solidFill>
                <a:schemeClr val="tx2">
                  <a:lumMod val="75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right wall. All 3 share I²C Bus 1 with unique addresses assigned via XSHUT pins.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1" name="Text 27"/>
          <p:cNvSpPr/>
          <p:nvPr/>
        </p:nvSpPr>
        <p:spPr>
          <a:xfrm>
            <a:off x="0" y="4882896"/>
            <a:ext cx="9003323" cy="260604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chemeClr val="tx2">
                    <a:lumMod val="40000"/>
                    <a:lumOff val="6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FC60E66-142C-2605-80BE-57E656C5CC8A}"/>
              </a:ext>
            </a:extLst>
          </p:cNvPr>
          <p:cNvSpPr/>
          <p:nvPr/>
        </p:nvSpPr>
        <p:spPr>
          <a:xfrm>
            <a:off x="1023424" y="3739896"/>
            <a:ext cx="914400" cy="914400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AF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endParaRPr lang="en-US" sz="1200" dirty="0">
              <a:solidFill>
                <a:srgbClr val="FAF8F8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7472" y="292608"/>
            <a:ext cx="8449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Component — Motors, Encoders &amp; Motor Driver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80467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Locomotion: DC gear motors + quadrature encoders + L298N H-bridge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057400" cy="2103120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048" y="1152144"/>
            <a:ext cx="1828800" cy="1920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324612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DC Gear Motor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D2D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 Quadrature Encoder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487168" y="1078992"/>
            <a:ext cx="2057400" cy="2103120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96896" y="1152144"/>
            <a:ext cx="1828800" cy="1920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87168" y="324612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D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L298N Dual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D2D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Motor Driver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274320" y="3767328"/>
            <a:ext cx="4270248" cy="1170432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57200" y="3822192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 Control Loop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384048" y="4160520"/>
            <a:ext cx="713232" cy="658368"/>
          </a:xfrm>
          <a:prstGeom prst="rect">
            <a:avLst/>
          </a:prstGeom>
          <a:solidFill>
            <a:srgbClr val="485870"/>
          </a:solidFill>
          <a:ln w="12700">
            <a:noFill/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84048" y="4160520"/>
            <a:ext cx="713232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Encoder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4407408"/>
            <a:ext cx="73152" cy="164592"/>
          </a:xfrm>
          <a:prstGeom prst="rect">
            <a:avLst/>
          </a:prstGeom>
          <a:ln>
            <a:noFill/>
          </a:ln>
        </p:spPr>
      </p:pic>
      <p:sp>
        <p:nvSpPr>
          <p:cNvPr id="16" name="Shape 11"/>
          <p:cNvSpPr/>
          <p:nvPr/>
        </p:nvSpPr>
        <p:spPr>
          <a:xfrm>
            <a:off x="1207008" y="4160520"/>
            <a:ext cx="713232" cy="658368"/>
          </a:xfrm>
          <a:prstGeom prst="rect">
            <a:avLst/>
          </a:prstGeom>
          <a:solidFill>
            <a:srgbClr val="637A9B"/>
          </a:solidFill>
          <a:ln w="12700">
            <a:noFill/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207008" y="4160520"/>
            <a:ext cx="713232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Speed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8528" y="4407408"/>
            <a:ext cx="73152" cy="164592"/>
          </a:xfrm>
          <a:prstGeom prst="rect">
            <a:avLst/>
          </a:prstGeom>
          <a:ln>
            <a:noFill/>
          </a:ln>
        </p:spPr>
      </p:pic>
      <p:sp>
        <p:nvSpPr>
          <p:cNvPr id="19" name="Shape 13"/>
          <p:cNvSpPr/>
          <p:nvPr/>
        </p:nvSpPr>
        <p:spPr>
          <a:xfrm>
            <a:off x="2029968" y="4160520"/>
            <a:ext cx="713232" cy="65836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noFill/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029968" y="4160520"/>
            <a:ext cx="713232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P+D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Correction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1488" y="4407408"/>
            <a:ext cx="73152" cy="164592"/>
          </a:xfrm>
          <a:prstGeom prst="rect">
            <a:avLst/>
          </a:prstGeom>
          <a:ln>
            <a:noFill/>
          </a:ln>
        </p:spPr>
      </p:pic>
      <p:sp>
        <p:nvSpPr>
          <p:cNvPr id="22" name="Shape 15"/>
          <p:cNvSpPr/>
          <p:nvPr/>
        </p:nvSpPr>
        <p:spPr>
          <a:xfrm>
            <a:off x="2852928" y="4160520"/>
            <a:ext cx="713232" cy="6583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noFill/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2852928" y="4160520"/>
            <a:ext cx="713232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PWM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448" y="4407408"/>
            <a:ext cx="73152" cy="164592"/>
          </a:xfrm>
          <a:prstGeom prst="rect">
            <a:avLst/>
          </a:prstGeom>
          <a:ln>
            <a:noFill/>
          </a:ln>
        </p:spPr>
      </p:pic>
      <p:sp>
        <p:nvSpPr>
          <p:cNvPr id="25" name="Shape 17"/>
          <p:cNvSpPr/>
          <p:nvPr/>
        </p:nvSpPr>
        <p:spPr>
          <a:xfrm>
            <a:off x="3675888" y="4160520"/>
            <a:ext cx="713232" cy="6583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noFill/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3675888" y="4160520"/>
            <a:ext cx="713232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Straight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Motion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4754880" y="1078992"/>
            <a:ext cx="4114800" cy="841248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4754880" y="1078992"/>
            <a:ext cx="201168" cy="841248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5084064" y="115214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Quadrature Encoders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5084064" y="1463040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pins (A+B per motor) → ESP32 GPIO 33/32 &amp; 34/35. Interrupt-driven pulse counting for precise odometry.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4754880" y="2048256"/>
            <a:ext cx="4114800" cy="841248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4754880" y="2048256"/>
            <a:ext cx="201168" cy="841248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5084064" y="21214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H-Bridge Direction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5084064" y="2432304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IN1–IN4 pins control forward/reverse per motor independently. Each motor fully bidirectional at all speeds.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4754880" y="3017520"/>
            <a:ext cx="4114800" cy="841248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754880" y="3017520"/>
            <a:ext cx="201168" cy="841248"/>
          </a:xfrm>
          <a:prstGeom prst="rect">
            <a:avLst/>
          </a:prstGeom>
          <a:solidFill>
            <a:schemeClr val="accent4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5084064" y="309067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PWM Speed Control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5084064" y="340156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ESP32 LEDC peripheral generates PWM on GPIO 13, 25, 26. Duty cycle 0–100% controls velocity smoothly.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4754880" y="3986784"/>
            <a:ext cx="4114800" cy="841248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4754880" y="3986784"/>
            <a:ext cx="201168" cy="841248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5084064" y="405993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4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Overvoltage Lesson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34"/>
          <p:cNvSpPr/>
          <p:nvPr/>
        </p:nvSpPr>
        <p:spPr>
          <a:xfrm>
            <a:off x="5084064" y="437083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Motor back-EMF spikes back-fed into ESP32 logic pins. After burn-out, added 100nF bypass capacitors on PWM lines.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-146304" y="4912751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7472" y="292608"/>
            <a:ext cx="8449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Component — IMU &amp; Power System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80467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gyroscope + Li-ion battery + boost converter + switch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201168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15568"/>
            <a:ext cx="2011680" cy="219456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AF8F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389888"/>
            <a:ext cx="1792224" cy="1298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6032" y="2889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IMU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2414016" y="1078992"/>
            <a:ext cx="201168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414016" y="1101852"/>
            <a:ext cx="2011680" cy="233172"/>
          </a:xfrm>
          <a:prstGeom prst="rect">
            <a:avLst/>
          </a:prstGeom>
          <a:solidFill>
            <a:schemeClr val="accent3"/>
          </a:solidFill>
          <a:ln w="12700">
            <a:solidFill>
              <a:srgbClr val="FAF8F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23744" y="1389888"/>
            <a:ext cx="1792224" cy="1298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14016" y="2889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 9V Battery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4572000" y="1078992"/>
            <a:ext cx="201168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0" y="1101852"/>
            <a:ext cx="2011680" cy="233172"/>
          </a:xfrm>
          <a:prstGeom prst="rect">
            <a:avLst/>
          </a:prstGeom>
          <a:solidFill>
            <a:schemeClr val="accent4"/>
          </a:solidFill>
          <a:ln w="12700">
            <a:solidFill>
              <a:srgbClr val="FAF8F8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81728" y="1389888"/>
            <a:ext cx="1792224" cy="12984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0" y="2889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DC-DC Converter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Shape 12"/>
          <p:cNvSpPr/>
          <p:nvPr/>
        </p:nvSpPr>
        <p:spPr>
          <a:xfrm>
            <a:off x="6729984" y="1078992"/>
            <a:ext cx="201168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729984" y="1115568"/>
            <a:ext cx="2011680" cy="219456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AF8F8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839712" y="1389888"/>
            <a:ext cx="1792224" cy="12984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29984" y="2889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Switch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1" name="Shape 15"/>
          <p:cNvSpPr/>
          <p:nvPr/>
        </p:nvSpPr>
        <p:spPr>
          <a:xfrm>
            <a:off x="256032" y="3310128"/>
            <a:ext cx="431596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256032" y="3310128"/>
            <a:ext cx="201168" cy="73152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66928" y="336499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— Gyroscope &amp; Accelerometer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66928" y="3657600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Bus 0 (GPIO 19/18). Provides gyroZ_raw → accumulated over time to track currentYaw. Enables accurate 90°/180° turns without encoder wheel-slip drift. Also provides accelerometer for motion state detection.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718304" y="3310128"/>
            <a:ext cx="431596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718304" y="3310128"/>
            <a:ext cx="201168" cy="731520"/>
          </a:xfrm>
          <a:prstGeom prst="rect">
            <a:avLst/>
          </a:prstGeom>
          <a:solidFill>
            <a:schemeClr val="accent3"/>
          </a:solidFill>
          <a:ln w="12700">
            <a:solidFill>
              <a:srgbClr val="9B59C5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029200" y="336499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 Rechargeable 9V Battery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029200" y="3657600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power source for the entire robot. USB-C charging. Stable current delivery during motor load spikes. We kept backup batteries after the burn-out incident (tracked on Trello Critical Reminders).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256032" y="4151376"/>
            <a:ext cx="431596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256032" y="4151376"/>
            <a:ext cx="201168" cy="731520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25FA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66928" y="420624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Step-Up DC-DC Boost Converter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66928" y="449884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output voltage. Regulates battery voltage to stable levels for motors and logic rails. Protects ESP32's 3.3V logic rail from motor voltage fluctuations and back-EMF spikes.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4718304" y="4151376"/>
            <a:ext cx="4315968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718304" y="4151376"/>
            <a:ext cx="201168" cy="731520"/>
          </a:xfrm>
          <a:prstGeom prst="rect">
            <a:avLst/>
          </a:prstGeom>
          <a:solidFill>
            <a:schemeClr val="accent5"/>
          </a:solidFill>
          <a:ln w="12700">
            <a:solidFill>
              <a:srgbClr val="E8725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029200" y="420624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On/Off Rocker Switch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029200" y="449884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with battery circuit. Allows safe power on/off without disconnecting wires. Critical for our staged power-on testing protocol — always verify voltages before connecting ESP32.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-201168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7472" y="292608"/>
            <a:ext cx="8449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Mechanical Design &amp; 3D Printing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80467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&amp; 5: chassis, sensor mounts, motor brackets, final assembly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96219" y="1078992"/>
            <a:ext cx="4655173" cy="3858768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811012" y="11430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Specifications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95005" y="1581768"/>
            <a:ext cx="1828800" cy="6859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6445" y="16366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86445" y="18743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13X13 cm footprint - fits maze that it size 19.5x19.5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615245" y="1581768"/>
            <a:ext cx="1828800" cy="6859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06685" y="16366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706685" y="18743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 plastic — rigid, lightweight, printable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695005" y="2377440"/>
            <a:ext cx="1828800" cy="7406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86445" y="2432304"/>
            <a:ext cx="1645920" cy="25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6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786445" y="2670047"/>
            <a:ext cx="1645920" cy="35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DC motors, rear-positioned, differential drive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615245" y="2377440"/>
            <a:ext cx="1828800" cy="7406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06685" y="2432304"/>
            <a:ext cx="1645920" cy="253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706685" y="2670047"/>
            <a:ext cx="1645920" cy="35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center + left/right 45° angled LiDAR mounts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695005" y="3209544"/>
            <a:ext cx="1828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86445" y="32644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4786445" y="35021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Minimized — faster acceleration &amp; turning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615245" y="3209544"/>
            <a:ext cx="18288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06685" y="32644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706685" y="35021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shield top-center for WiFi antenna clearance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663440" y="4105656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41605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754880" y="43982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 mounted low for stable center of gravity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583680" y="4105656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75120" y="41605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25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675120" y="43982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on chassis side for safe power-on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DA1AC41F-88CD-594A-D29B-3942C864A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67" y="1078992"/>
            <a:ext cx="3169546" cy="38587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35EE83-EBF3-BFC3-7F3B-D9D75CE2C4A7}"/>
              </a:ext>
            </a:extLst>
          </p:cNvPr>
          <p:cNvSpPr/>
          <p:nvPr/>
        </p:nvSpPr>
        <p:spPr>
          <a:xfrm>
            <a:off x="0" y="22273"/>
            <a:ext cx="9144000" cy="20116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33F98D-007B-0611-AC3B-B218F5118777}"/>
              </a:ext>
            </a:extLst>
          </p:cNvPr>
          <p:cNvSpPr/>
          <p:nvPr/>
        </p:nvSpPr>
        <p:spPr>
          <a:xfrm>
            <a:off x="347472" y="25603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System Overview — All Components &amp; Wiring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23212D6-FE89-B521-ACF9-0A57001448CE}"/>
              </a:ext>
            </a:extLst>
          </p:cNvPr>
          <p:cNvSpPr/>
          <p:nvPr/>
        </p:nvSpPr>
        <p:spPr>
          <a:xfrm>
            <a:off x="347472" y="749808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GPIO connection from the actual code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5277012-8293-104C-7234-ABC748EB578F}"/>
              </a:ext>
            </a:extLst>
          </p:cNvPr>
          <p:cNvSpPr/>
          <p:nvPr/>
        </p:nvSpPr>
        <p:spPr>
          <a:xfrm>
            <a:off x="3401568" y="987551"/>
            <a:ext cx="2340864" cy="3553181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rgbClr val="FAF8F8"/>
            </a:solidFill>
            <a:prstDash val="solid"/>
          </a:ln>
          <a:effectLst>
            <a:outerShdw blurRad="177800" dist="38100" dir="8100000" algn="bl" rotWithShape="0">
              <a:schemeClr val="tx2">
                <a:lumMod val="60000"/>
                <a:lumOff val="40000"/>
                <a:alpha val="9000"/>
              </a:schemeClr>
            </a:outerShdw>
          </a:effectLst>
        </p:spPr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788314D4-570C-B9BC-1BF8-C97FFB151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492758"/>
            <a:ext cx="1883664" cy="2157984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3FC1B150-E228-19EC-7244-22E2DA2B4404}"/>
              </a:ext>
            </a:extLst>
          </p:cNvPr>
          <p:cNvSpPr/>
          <p:nvPr/>
        </p:nvSpPr>
        <p:spPr>
          <a:xfrm>
            <a:off x="3493008" y="382219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ESP32-WROOM-32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08A153D-878B-AB97-9CE6-F4976BA7A176}"/>
              </a:ext>
            </a:extLst>
          </p:cNvPr>
          <p:cNvSpPr/>
          <p:nvPr/>
        </p:nvSpPr>
        <p:spPr>
          <a:xfrm>
            <a:off x="3520440" y="411480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240MHz | WiFi</a:t>
            </a:r>
            <a:endParaRPr lang="en-US" sz="12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2F0E82C-43FF-5935-3821-1D51302EE001}"/>
              </a:ext>
            </a:extLst>
          </p:cNvPr>
          <p:cNvSpPr/>
          <p:nvPr/>
        </p:nvSpPr>
        <p:spPr>
          <a:xfrm>
            <a:off x="164592" y="1078992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7D795DF-A141-CDE6-5D88-67C8FEA5EE1E}"/>
              </a:ext>
            </a:extLst>
          </p:cNvPr>
          <p:cNvSpPr/>
          <p:nvPr/>
        </p:nvSpPr>
        <p:spPr>
          <a:xfrm>
            <a:off x="164592" y="1078992"/>
            <a:ext cx="182880" cy="7132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60925D3-A3A2-AC48-4908-6031644AA95D}"/>
              </a:ext>
            </a:extLst>
          </p:cNvPr>
          <p:cNvSpPr/>
          <p:nvPr/>
        </p:nvSpPr>
        <p:spPr>
          <a:xfrm>
            <a:off x="493776" y="117043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VL53L0X FRONT</a:t>
            </a:r>
            <a:endParaRPr lang="en-US" sz="1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BDB82B6-627E-5FBA-90AD-5FC8AEB0181F}"/>
              </a:ext>
            </a:extLst>
          </p:cNvPr>
          <p:cNvSpPr/>
          <p:nvPr/>
        </p:nvSpPr>
        <p:spPr>
          <a:xfrm>
            <a:off x="493776" y="146304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XSHUT→GPIO 16 | I²C addr 0x30</a:t>
            </a:r>
            <a:endParaRPr lang="en-US" sz="12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C532121D-4F54-3D1E-68EC-250A1544D828}"/>
              </a:ext>
            </a:extLst>
          </p:cNvPr>
          <p:cNvSpPr/>
          <p:nvPr/>
        </p:nvSpPr>
        <p:spPr>
          <a:xfrm>
            <a:off x="3182112" y="1435608"/>
            <a:ext cx="219456" cy="0"/>
          </a:xfrm>
          <a:prstGeom prst="line">
            <a:avLst/>
          </a:prstGeom>
          <a:noFill/>
          <a:ln w="19050">
            <a:solidFill>
              <a:srgbClr val="9B59C5"/>
            </a:solidFill>
            <a:prstDash val="dash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05B43205-7BA1-3DDD-C4A7-8CDF141F9519}"/>
              </a:ext>
            </a:extLst>
          </p:cNvPr>
          <p:cNvSpPr/>
          <p:nvPr/>
        </p:nvSpPr>
        <p:spPr>
          <a:xfrm>
            <a:off x="164592" y="1920240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703632BF-A53B-29F1-8472-EAF5CC58DC6C}"/>
              </a:ext>
            </a:extLst>
          </p:cNvPr>
          <p:cNvSpPr/>
          <p:nvPr/>
        </p:nvSpPr>
        <p:spPr>
          <a:xfrm>
            <a:off x="164592" y="1920240"/>
            <a:ext cx="182880" cy="7132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398116D-1A77-CDB2-26D9-3583F62E673E}"/>
              </a:ext>
            </a:extLst>
          </p:cNvPr>
          <p:cNvSpPr/>
          <p:nvPr/>
        </p:nvSpPr>
        <p:spPr>
          <a:xfrm>
            <a:off x="493776" y="201168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VL53L0X LEFT</a:t>
            </a:r>
            <a:endParaRPr lang="en-US" sz="12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F5BD946-575D-2BF6-CE86-BD3D5300A2CB}"/>
              </a:ext>
            </a:extLst>
          </p:cNvPr>
          <p:cNvSpPr/>
          <p:nvPr/>
        </p:nvSpPr>
        <p:spPr>
          <a:xfrm>
            <a:off x="493776" y="230428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XSHUT→GPIO 17 | I²C addr 0x31</a:t>
            </a:r>
            <a:endParaRPr lang="en-US" sz="12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DF01E09F-3EDA-ED3F-CD3C-9F968521DD5D}"/>
              </a:ext>
            </a:extLst>
          </p:cNvPr>
          <p:cNvSpPr/>
          <p:nvPr/>
        </p:nvSpPr>
        <p:spPr>
          <a:xfrm>
            <a:off x="3182112" y="2276856"/>
            <a:ext cx="219456" cy="0"/>
          </a:xfrm>
          <a:prstGeom prst="line">
            <a:avLst/>
          </a:prstGeom>
          <a:noFill/>
          <a:ln w="19050">
            <a:solidFill>
              <a:srgbClr val="9B59C5"/>
            </a:solidFill>
            <a:prstDash val="dash"/>
          </a:ln>
        </p:spPr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2A211B29-89F2-1C92-ABE9-B3CC1A215DA9}"/>
              </a:ext>
            </a:extLst>
          </p:cNvPr>
          <p:cNvSpPr/>
          <p:nvPr/>
        </p:nvSpPr>
        <p:spPr>
          <a:xfrm>
            <a:off x="164592" y="2761488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9CA4D9F6-0FA1-646C-DE11-9D64B4802EBD}"/>
              </a:ext>
            </a:extLst>
          </p:cNvPr>
          <p:cNvSpPr/>
          <p:nvPr/>
        </p:nvSpPr>
        <p:spPr>
          <a:xfrm>
            <a:off x="164592" y="2761488"/>
            <a:ext cx="182880" cy="7132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7EA19AC-3D58-30B3-4791-C44BD3255F61}"/>
              </a:ext>
            </a:extLst>
          </p:cNvPr>
          <p:cNvSpPr/>
          <p:nvPr/>
        </p:nvSpPr>
        <p:spPr>
          <a:xfrm>
            <a:off x="493776" y="285292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VL53L0X RIGHT</a:t>
            </a:r>
            <a:endParaRPr lang="en-US" sz="12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5ED13E23-725E-EF7A-7988-297A6482AE74}"/>
              </a:ext>
            </a:extLst>
          </p:cNvPr>
          <p:cNvSpPr/>
          <p:nvPr/>
        </p:nvSpPr>
        <p:spPr>
          <a:xfrm>
            <a:off x="493776" y="314553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XSHUT→GPIO 4  | I²C addr 0x32</a:t>
            </a:r>
            <a:endParaRPr lang="en-US" sz="1200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BC9E8653-8F36-4E1D-3B81-9EF8793C9716}"/>
              </a:ext>
            </a:extLst>
          </p:cNvPr>
          <p:cNvSpPr/>
          <p:nvPr/>
        </p:nvSpPr>
        <p:spPr>
          <a:xfrm>
            <a:off x="3182112" y="3118104"/>
            <a:ext cx="219456" cy="0"/>
          </a:xfrm>
          <a:prstGeom prst="line">
            <a:avLst/>
          </a:prstGeom>
          <a:noFill/>
          <a:ln w="19050">
            <a:solidFill>
              <a:srgbClr val="9B59C5"/>
            </a:solidFill>
            <a:prstDash val="dash"/>
          </a:ln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D3FE961F-48E0-0E15-13D1-660E4DE69BC4}"/>
              </a:ext>
            </a:extLst>
          </p:cNvPr>
          <p:cNvSpPr/>
          <p:nvPr/>
        </p:nvSpPr>
        <p:spPr>
          <a:xfrm>
            <a:off x="164592" y="3602736"/>
            <a:ext cx="3017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D73ECE72-C2CB-58D0-9A6A-6132BAD5C452}"/>
              </a:ext>
            </a:extLst>
          </p:cNvPr>
          <p:cNvSpPr/>
          <p:nvPr/>
        </p:nvSpPr>
        <p:spPr>
          <a:xfrm>
            <a:off x="164592" y="3602736"/>
            <a:ext cx="182880" cy="7132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F97CDDD7-6A3D-7291-5121-E97C8DD84402}"/>
              </a:ext>
            </a:extLst>
          </p:cNvPr>
          <p:cNvSpPr/>
          <p:nvPr/>
        </p:nvSpPr>
        <p:spPr>
          <a:xfrm>
            <a:off x="493776" y="369417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IMU</a:t>
            </a:r>
            <a:endParaRPr lang="en-US" sz="12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65862DB5-C0FB-A95E-45B4-5EDB0D1A28A9}"/>
              </a:ext>
            </a:extLst>
          </p:cNvPr>
          <p:cNvSpPr/>
          <p:nvPr/>
        </p:nvSpPr>
        <p:spPr>
          <a:xfrm>
            <a:off x="493776" y="3986784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Wire.begin(21, 22) — I²C SDA/SCL</a:t>
            </a:r>
            <a:endParaRPr lang="en-US" sz="1200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A1D52484-BC84-6B2C-951D-306868FF4541}"/>
              </a:ext>
            </a:extLst>
          </p:cNvPr>
          <p:cNvSpPr/>
          <p:nvPr/>
        </p:nvSpPr>
        <p:spPr>
          <a:xfrm>
            <a:off x="3182112" y="3959352"/>
            <a:ext cx="219456" cy="0"/>
          </a:xfrm>
          <a:prstGeom prst="line">
            <a:avLst/>
          </a:prstGeom>
          <a:noFill/>
          <a:ln w="19050">
            <a:solidFill>
              <a:srgbClr val="C25FA0"/>
            </a:solidFill>
            <a:prstDash val="dash"/>
          </a:ln>
        </p:spPr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2D5BA6F5-1107-65ED-CB3A-CDCA2F9CF3AE}"/>
              </a:ext>
            </a:extLst>
          </p:cNvPr>
          <p:cNvSpPr/>
          <p:nvPr/>
        </p:nvSpPr>
        <p:spPr>
          <a:xfrm>
            <a:off x="5980176" y="1078992"/>
            <a:ext cx="299923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190A40C0-E6DE-CBCB-8095-2132049FAC4B}"/>
              </a:ext>
            </a:extLst>
          </p:cNvPr>
          <p:cNvSpPr/>
          <p:nvPr/>
        </p:nvSpPr>
        <p:spPr>
          <a:xfrm>
            <a:off x="8796528" y="1078992"/>
            <a:ext cx="182880" cy="7132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234112DD-7D38-2C89-9312-397DCF9A7674}"/>
              </a:ext>
            </a:extLst>
          </p:cNvPr>
          <p:cNvSpPr/>
          <p:nvPr/>
        </p:nvSpPr>
        <p:spPr>
          <a:xfrm>
            <a:off x="6071616" y="117043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A + Encoder A</a:t>
            </a:r>
            <a:endParaRPr lang="en-US" sz="120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BBB9F508-DCA2-0448-BB90-5AEA22384267}"/>
              </a:ext>
            </a:extLst>
          </p:cNvPr>
          <p:cNvSpPr/>
          <p:nvPr/>
        </p:nvSpPr>
        <p:spPr>
          <a:xfrm>
            <a:off x="6071616" y="1463040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ENA=25 IN1=27 IN2=14 | ENC_A1=32 ENC_A2=33</a:t>
            </a:r>
            <a:endParaRPr lang="en-US" sz="120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D7DF6262-FEB9-F671-B29A-5A9AB43A9EF7}"/>
              </a:ext>
            </a:extLst>
          </p:cNvPr>
          <p:cNvSpPr/>
          <p:nvPr/>
        </p:nvSpPr>
        <p:spPr>
          <a:xfrm>
            <a:off x="5742432" y="1435608"/>
            <a:ext cx="237744" cy="0"/>
          </a:xfrm>
          <a:prstGeom prst="line">
            <a:avLst/>
          </a:prstGeom>
          <a:noFill/>
          <a:ln w="19050">
            <a:solidFill>
              <a:srgbClr val="E8725A"/>
            </a:solidFill>
            <a:prstDash val="dash"/>
          </a:ln>
        </p:spPr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E985107D-9DCC-7AA6-C400-3C7D54857413}"/>
              </a:ext>
            </a:extLst>
          </p:cNvPr>
          <p:cNvSpPr/>
          <p:nvPr/>
        </p:nvSpPr>
        <p:spPr>
          <a:xfrm>
            <a:off x="5980176" y="1920240"/>
            <a:ext cx="299923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8B05CDC0-A1DA-3B6A-41DB-013AF03C32BE}"/>
              </a:ext>
            </a:extLst>
          </p:cNvPr>
          <p:cNvSpPr/>
          <p:nvPr/>
        </p:nvSpPr>
        <p:spPr>
          <a:xfrm>
            <a:off x="8796528" y="1920240"/>
            <a:ext cx="182880" cy="7132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6BC29D50-C404-B395-8B2D-6CC00E879DC9}"/>
              </a:ext>
            </a:extLst>
          </p:cNvPr>
          <p:cNvSpPr/>
          <p:nvPr/>
        </p:nvSpPr>
        <p:spPr>
          <a:xfrm>
            <a:off x="6071616" y="201168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B + Encoder B</a:t>
            </a:r>
            <a:endParaRPr lang="en-US" sz="1200" dirty="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7EF48BA2-B32B-BEC1-8A80-46D367B8C3E6}"/>
              </a:ext>
            </a:extLst>
          </p:cNvPr>
          <p:cNvSpPr/>
          <p:nvPr/>
        </p:nvSpPr>
        <p:spPr>
          <a:xfrm>
            <a:off x="6071616" y="2304288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ENB=26 IN3=12 IN4=13 | ENC_B1=18 ENC_B2=19</a:t>
            </a:r>
            <a:endParaRPr lang="en-US" sz="1200" dirty="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0A888936-D051-9A25-B498-CEFE671EDEF3}"/>
              </a:ext>
            </a:extLst>
          </p:cNvPr>
          <p:cNvSpPr/>
          <p:nvPr/>
        </p:nvSpPr>
        <p:spPr>
          <a:xfrm>
            <a:off x="5742432" y="2276856"/>
            <a:ext cx="237744" cy="0"/>
          </a:xfrm>
          <a:prstGeom prst="line">
            <a:avLst/>
          </a:prstGeom>
          <a:noFill/>
          <a:ln w="19050">
            <a:solidFill>
              <a:srgbClr val="E8725A"/>
            </a:solidFill>
            <a:prstDash val="dash"/>
          </a:ln>
        </p:spPr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105B2169-5871-2AF2-D627-D24A9207B179}"/>
              </a:ext>
            </a:extLst>
          </p:cNvPr>
          <p:cNvSpPr/>
          <p:nvPr/>
        </p:nvSpPr>
        <p:spPr>
          <a:xfrm>
            <a:off x="5980176" y="2761488"/>
            <a:ext cx="299923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ADFF3811-A1E2-6C65-0309-67E3497C3FC5}"/>
              </a:ext>
            </a:extLst>
          </p:cNvPr>
          <p:cNvSpPr/>
          <p:nvPr/>
        </p:nvSpPr>
        <p:spPr>
          <a:xfrm>
            <a:off x="8796528" y="2761488"/>
            <a:ext cx="182880" cy="7132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C7247561-23C6-21F4-AD49-43F4B2F1A9F7}"/>
              </a:ext>
            </a:extLst>
          </p:cNvPr>
          <p:cNvSpPr/>
          <p:nvPr/>
        </p:nvSpPr>
        <p:spPr>
          <a:xfrm>
            <a:off x="6071616" y="285292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L298N Motor Driver</a:t>
            </a:r>
            <a:endParaRPr lang="en-US" sz="1200" dirty="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73480335-739A-A5E3-4FA9-27D7672D9F66}"/>
              </a:ext>
            </a:extLst>
          </p:cNvPr>
          <p:cNvSpPr/>
          <p:nvPr/>
        </p:nvSpPr>
        <p:spPr>
          <a:xfrm>
            <a:off x="6071616" y="3145536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spinRight/Left/setForward | turnPWM=85</a:t>
            </a:r>
            <a:endParaRPr lang="en-US" sz="1200" dirty="0"/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DA386EB1-465F-9AFF-3F98-9CB3DF06B097}"/>
              </a:ext>
            </a:extLst>
          </p:cNvPr>
          <p:cNvSpPr/>
          <p:nvPr/>
        </p:nvSpPr>
        <p:spPr>
          <a:xfrm>
            <a:off x="5742432" y="3118104"/>
            <a:ext cx="237744" cy="0"/>
          </a:xfrm>
          <a:prstGeom prst="line">
            <a:avLst/>
          </a:prstGeom>
          <a:noFill/>
          <a:ln w="19050">
            <a:solidFill>
              <a:srgbClr val="D05A3A"/>
            </a:solidFill>
            <a:prstDash val="dash"/>
          </a:ln>
        </p:spPr>
      </p:sp>
      <p:sp>
        <p:nvSpPr>
          <p:cNvPr id="45" name="Shape 42">
            <a:extLst>
              <a:ext uri="{FF2B5EF4-FFF2-40B4-BE49-F238E27FC236}">
                <a16:creationId xmlns:a16="http://schemas.microsoft.com/office/drawing/2014/main" id="{69283633-1AA8-BCAD-1C36-4315CEB400EF}"/>
              </a:ext>
            </a:extLst>
          </p:cNvPr>
          <p:cNvSpPr/>
          <p:nvPr/>
        </p:nvSpPr>
        <p:spPr>
          <a:xfrm>
            <a:off x="5980176" y="3602736"/>
            <a:ext cx="299923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F9DA612F-9790-2518-F7D7-51EDE57B9D3B}"/>
              </a:ext>
            </a:extLst>
          </p:cNvPr>
          <p:cNvSpPr/>
          <p:nvPr/>
        </p:nvSpPr>
        <p:spPr>
          <a:xfrm>
            <a:off x="8796528" y="3602736"/>
            <a:ext cx="182880" cy="7132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AE365632-E1A6-BB48-D1F8-328BA2652702}"/>
              </a:ext>
            </a:extLst>
          </p:cNvPr>
          <p:cNvSpPr/>
          <p:nvPr/>
        </p:nvSpPr>
        <p:spPr>
          <a:xfrm>
            <a:off x="6071616" y="3694176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 + Boost + SW</a:t>
            </a:r>
            <a:endParaRPr lang="en-US" sz="1200" dirty="0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223507FE-6685-A7F5-F81A-7A1EEF95C18B}"/>
              </a:ext>
            </a:extLst>
          </p:cNvPr>
          <p:cNvSpPr/>
          <p:nvPr/>
        </p:nvSpPr>
        <p:spPr>
          <a:xfrm>
            <a:off x="6071616" y="398678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9V battery → DC-DC regulator → power switch</a:t>
            </a:r>
            <a:endParaRPr lang="en-US" sz="1200" dirty="0"/>
          </a:p>
        </p:txBody>
      </p:sp>
      <p:sp>
        <p:nvSpPr>
          <p:cNvPr id="49" name="Shape 46">
            <a:extLst>
              <a:ext uri="{FF2B5EF4-FFF2-40B4-BE49-F238E27FC236}">
                <a16:creationId xmlns:a16="http://schemas.microsoft.com/office/drawing/2014/main" id="{30F117A4-91E3-DB0D-97F9-00F7FCB605D4}"/>
              </a:ext>
            </a:extLst>
          </p:cNvPr>
          <p:cNvSpPr/>
          <p:nvPr/>
        </p:nvSpPr>
        <p:spPr>
          <a:xfrm>
            <a:off x="5742432" y="3959352"/>
            <a:ext cx="237744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dash"/>
          </a:ln>
        </p:spPr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D49DA50-7712-5731-DE66-8B26C2ACF6D9}"/>
              </a:ext>
            </a:extLst>
          </p:cNvPr>
          <p:cNvSpPr txBox="1"/>
          <p:nvPr/>
        </p:nvSpPr>
        <p:spPr>
          <a:xfrm>
            <a:off x="4444780" y="4913795"/>
            <a:ext cx="4595854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940132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90D217A-1532-C63A-0DBC-D348CDB0B00E}"/>
              </a:ext>
            </a:extLst>
          </p:cNvPr>
          <p:cNvSpPr/>
          <p:nvPr/>
        </p:nvSpPr>
        <p:spPr>
          <a:xfrm>
            <a:off x="347472" y="18745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Complete Pinout 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830E327-58DE-20D1-9541-3E1AE50B8815}"/>
              </a:ext>
            </a:extLst>
          </p:cNvPr>
          <p:cNvSpPr/>
          <p:nvPr/>
        </p:nvSpPr>
        <p:spPr>
          <a:xfrm>
            <a:off x="347472" y="571500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ESP32 GPIO connection verified against #define constants in the firmware</a:t>
            </a:r>
            <a:endParaRPr lang="en-US" sz="1200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E9DA2483-CB0C-4A4C-685A-B0E4E0ED04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897189"/>
              </p:ext>
            </p:extLst>
          </p:nvPr>
        </p:nvGraphicFramePr>
        <p:xfrm>
          <a:off x="347472" y="973357"/>
          <a:ext cx="8639875" cy="3823610"/>
        </p:xfrm>
        <a:graphic>
          <a:graphicData uri="http://schemas.openxmlformats.org/drawingml/2006/table">
            <a:tbl>
              <a:tblPr/>
              <a:tblGrid>
                <a:gridCol w="1882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Pin(s)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(from code)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82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I²C — MPU6050 IMU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MPU6050 SDA</a:t>
                      </a:r>
                      <a:endParaRPr lang="en-US" sz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21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I²C (Wire.begin)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IMU data line — Wire.begin(21, 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3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MPU6050 SCL</a:t>
                      </a:r>
                      <a:endParaRPr lang="en-US" sz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22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I²C (Wire.begin)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IMU clock line — Wire.begin(21, 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82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I²C — VL53L0X LiDAR × 3 (shared bus)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3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LiDAR SDA (all 3)</a:t>
                      </a:r>
                      <a:endParaRPr lang="en-US" sz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21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I²C (Wire)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 sensors share same I²C bus as MPU6050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3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LiDAR SCL (all 3)</a:t>
                      </a:r>
                      <a:endParaRPr lang="en-US" sz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22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I²C (Wire)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Wire bus — unique addresses via XSHUT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3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XSHUT FRONT</a:t>
                      </a:r>
                      <a:endParaRPr lang="en-US" sz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16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XSHUT_FRONT — boots sensor, assigns 0x30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38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XSHUT LEFT</a:t>
                      </a:r>
                      <a:endParaRPr lang="en-US" sz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17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XSHUT_LEFT  — boots sensor, assigns 0x31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9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XSHUT RIGHT</a:t>
                      </a:r>
                      <a:endParaRPr lang="en-US" sz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XSHUT_RIGHT — boots sensor, assigns 0x32</a:t>
                      </a: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382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4">
            <a:extLst>
              <a:ext uri="{FF2B5EF4-FFF2-40B4-BE49-F238E27FC236}">
                <a16:creationId xmlns:a16="http://schemas.microsoft.com/office/drawing/2014/main" id="{CCB088EA-B62F-7669-C73A-898C570F044D}"/>
              </a:ext>
            </a:extLst>
          </p:cNvPr>
          <p:cNvSpPr/>
          <p:nvPr/>
        </p:nvSpPr>
        <p:spPr>
          <a:xfrm flipH="1">
            <a:off x="8796527" y="3468914"/>
            <a:ext cx="1356215" cy="153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644AAC0-6C53-B2BE-4F0B-8690DB755F30}"/>
              </a:ext>
            </a:extLst>
          </p:cNvPr>
          <p:cNvSpPr/>
          <p:nvPr/>
        </p:nvSpPr>
        <p:spPr>
          <a:xfrm>
            <a:off x="0" y="4910328"/>
            <a:ext cx="89611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MicroMouse  ·  Interfacing Techniques  ·  Pinout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46779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4">
            <a:extLst>
              <a:ext uri="{FF2B5EF4-FFF2-40B4-BE49-F238E27FC236}">
                <a16:creationId xmlns:a16="http://schemas.microsoft.com/office/drawing/2014/main" id="{A4C3289C-6021-F64B-8F38-CCEEB784FD80}"/>
              </a:ext>
            </a:extLst>
          </p:cNvPr>
          <p:cNvSpPr/>
          <p:nvPr/>
        </p:nvSpPr>
        <p:spPr>
          <a:xfrm>
            <a:off x="384048" y="476402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FD7B044-1C47-705D-4792-903CBF40A3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393023"/>
              </p:ext>
            </p:extLst>
          </p:nvPr>
        </p:nvGraphicFramePr>
        <p:xfrm>
          <a:off x="304800" y="1148862"/>
          <a:ext cx="8639875" cy="3800524"/>
        </p:xfrm>
        <a:graphic>
          <a:graphicData uri="http://schemas.openxmlformats.org/drawingml/2006/table">
            <a:tbl>
              <a:tblPr/>
              <a:tblGrid>
                <a:gridCol w="1374367">
                  <a:extLst>
                    <a:ext uri="{9D8B030D-6E8A-4147-A177-3AD203B41FA5}">
                      <a16:colId xmlns:a16="http://schemas.microsoft.com/office/drawing/2014/main" val="11411504"/>
                    </a:ext>
                  </a:extLst>
                </a:gridCol>
                <a:gridCol w="1396079">
                  <a:extLst>
                    <a:ext uri="{9D8B030D-6E8A-4147-A177-3AD203B41FA5}">
                      <a16:colId xmlns:a16="http://schemas.microsoft.com/office/drawing/2014/main" val="1062091543"/>
                    </a:ext>
                  </a:extLst>
                </a:gridCol>
                <a:gridCol w="1592710">
                  <a:extLst>
                    <a:ext uri="{9D8B030D-6E8A-4147-A177-3AD203B41FA5}">
                      <a16:colId xmlns:a16="http://schemas.microsoft.com/office/drawing/2014/main" val="3790816929"/>
                    </a:ext>
                  </a:extLst>
                </a:gridCol>
                <a:gridCol w="4276719">
                  <a:extLst>
                    <a:ext uri="{9D8B030D-6E8A-4147-A177-3AD203B41FA5}">
                      <a16:colId xmlns:a16="http://schemas.microsoft.com/office/drawing/2014/main" val="3401854456"/>
                    </a:ext>
                  </a:extLst>
                </a:gridCol>
              </a:tblGrid>
              <a:tr h="286484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Encoders — Quadrature (IRAM_ATTR ISRs)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758910"/>
                  </a:ext>
                </a:extLst>
              </a:tr>
              <a:tr h="286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Encoder ISR</a:t>
                      </a:r>
                      <a:endParaRPr lang="en-US" sz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32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 (RISING)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ENC_A1 — RISING edge triggers encoderA_ISR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2527"/>
                  </a:ext>
                </a:extLst>
              </a:tr>
              <a:tr h="286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Encoder Dir</a:t>
                      </a:r>
                      <a:endParaRPr lang="en-US" sz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33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ENC_A2 — read in ISR: HIGH=forward LOW=back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0025330"/>
                  </a:ext>
                </a:extLst>
              </a:tr>
              <a:tr h="286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Encoder ISR</a:t>
                      </a:r>
                      <a:endParaRPr lang="en-US" sz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18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Interrupt (RISING)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ENC_B1 — RISING edge triggers encoderB_ISR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824792"/>
                  </a:ext>
                </a:extLst>
              </a:tr>
              <a:tr h="286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Encoder Dir</a:t>
                      </a:r>
                      <a:endParaRPr lang="en-US" sz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19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ENC_B2 — read in ISR: HIGH=forward LOW=back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011115"/>
                  </a:ext>
                </a:extLst>
              </a:tr>
              <a:tr h="286484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Driver L298N — Speed + 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471353"/>
                  </a:ext>
                </a:extLst>
              </a:tr>
              <a:tr h="4678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A Speed (ENA)</a:t>
                      </a:r>
                      <a:endParaRPr lang="en-US" sz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25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PWM analogWrite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 — Motor A speed 0–255 duty cycle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504879"/>
                  </a:ext>
                </a:extLst>
              </a:tr>
              <a:tr h="286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A Dir  IN1</a:t>
                      </a:r>
                      <a:endParaRPr lang="en-US" sz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27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IN1 — setForward: LOW | spinRight: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582870"/>
                  </a:ext>
                </a:extLst>
              </a:tr>
              <a:tr h="286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A Dir  IN2</a:t>
                      </a:r>
                      <a:endParaRPr lang="en-US" sz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14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IN2 — setForward: HIGH | spinRight: 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490408"/>
                  </a:ext>
                </a:extLst>
              </a:tr>
              <a:tr h="4678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B Speed (ENB)</a:t>
                      </a:r>
                      <a:endParaRPr lang="en-US" sz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26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PWM analogWrite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ENB — Motor B speed 0–255 duty cycle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029035"/>
                  </a:ext>
                </a:extLst>
              </a:tr>
              <a:tr h="286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B Dir  IN3</a:t>
                      </a:r>
                      <a:endParaRPr lang="en-US" sz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12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IN3 — setForward: LOW | spinLeft: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640672"/>
                  </a:ext>
                </a:extLst>
              </a:tr>
              <a:tr h="286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B Dir  IN4</a:t>
                      </a:r>
                      <a:endParaRPr lang="en-US" sz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2D4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GPIO 13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B6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IN4 — setForward: HIGH | spinLeft: 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0155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1BD56B6-C8EF-4457-2D08-9C84F45CDA5F}"/>
              </a:ext>
            </a:extLst>
          </p:cNvPr>
          <p:cNvSpPr txBox="1"/>
          <p:nvPr/>
        </p:nvSpPr>
        <p:spPr>
          <a:xfrm>
            <a:off x="205564" y="320198"/>
            <a:ext cx="46357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Continue - Pinout </a:t>
            </a:r>
            <a:endParaRPr lang="en-GB" sz="24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FF3C2E3-9F74-DFCC-E1CE-E2428CFB91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431904"/>
              </p:ext>
            </p:extLst>
          </p:nvPr>
        </p:nvGraphicFramePr>
        <p:xfrm>
          <a:off x="304801" y="834981"/>
          <a:ext cx="8639875" cy="313881"/>
        </p:xfrm>
        <a:graphic>
          <a:graphicData uri="http://schemas.openxmlformats.org/drawingml/2006/table">
            <a:tbl>
              <a:tblPr/>
              <a:tblGrid>
                <a:gridCol w="1882459">
                  <a:extLst>
                    <a:ext uri="{9D8B030D-6E8A-4147-A177-3AD203B41FA5}">
                      <a16:colId xmlns:a16="http://schemas.microsoft.com/office/drawing/2014/main" val="2476843838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525948920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803112648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376819005"/>
                    </a:ext>
                  </a:extLst>
                </a:gridCol>
              </a:tblGrid>
              <a:tr h="3138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Pin(s)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(from code)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9614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959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7472" y="292608"/>
            <a:ext cx="8449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Algorithm Selection — Evaluating 4 Approaches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38406" y="749808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chose Flood-Fill BFS for unknown maze navigation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52728" y="1097280"/>
            <a:ext cx="2103120" cy="3858768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52728" y="1097280"/>
            <a:ext cx="2103120" cy="3474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4168" y="11155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Follower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481328" y="1517904"/>
            <a:ext cx="1645920" cy="274320"/>
          </a:xfrm>
          <a:prstGeom prst="rect">
            <a:avLst/>
          </a:prstGeom>
          <a:solidFill>
            <a:srgbClr val="FAF8F8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81328" y="15179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362456" y="192024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" y="2194560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18488" y="21854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code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" y="2505456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18488" y="24963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memory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362456" y="298094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362456" y="325526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Gets stuck in loops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362456" y="354787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Cannot solve all maze types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362456" y="384048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Non-optimal path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465576" y="1097280"/>
            <a:ext cx="2103120" cy="3858768"/>
          </a:xfrm>
          <a:prstGeom prst="rect">
            <a:avLst/>
          </a:prstGeom>
          <a:solidFill>
            <a:srgbClr val="FAF8F8"/>
          </a:solidFill>
          <a:ln w="6350">
            <a:solidFill>
              <a:srgbClr val="FAF8F8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465576" y="1097280"/>
            <a:ext cx="2103120" cy="34747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557016" y="11155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/ A*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2" name="Shape 18"/>
          <p:cNvSpPr/>
          <p:nvPr/>
        </p:nvSpPr>
        <p:spPr>
          <a:xfrm>
            <a:off x="3694176" y="1517904"/>
            <a:ext cx="1645920" cy="274320"/>
          </a:xfrm>
          <a:prstGeom prst="rect">
            <a:avLst/>
          </a:prstGeom>
          <a:solidFill>
            <a:srgbClr val="FAF8F8"/>
          </a:solidFill>
          <a:ln w="12700">
            <a:solidFill>
              <a:srgbClr val="FAF8F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3" name="Text 19"/>
          <p:cNvSpPr/>
          <p:nvPr/>
        </p:nvSpPr>
        <p:spPr>
          <a:xfrm>
            <a:off x="3694176" y="15179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24" name="Text 20"/>
          <p:cNvSpPr/>
          <p:nvPr/>
        </p:nvSpPr>
        <p:spPr>
          <a:xfrm>
            <a:off x="3575304" y="192024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</a:t>
            </a:r>
            <a:endParaRPr lang="en-US" sz="12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304" y="2194560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831336" y="21854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path</a:t>
            </a:r>
            <a:endParaRPr lang="en-US" sz="12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304" y="250545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831336" y="24963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known maps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3575304" y="2980944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3575304" y="325526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Needs full map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3575304" y="354787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Heavy for ESP32 RAM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3575304" y="384048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Not for unknown maze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5678424" y="1097280"/>
            <a:ext cx="2103120" cy="3858768"/>
          </a:xfrm>
          <a:prstGeom prst="rect">
            <a:avLst/>
          </a:prstGeom>
          <a:solidFill>
            <a:srgbClr val="FAF8F8"/>
          </a:solidFill>
          <a:ln w="6350">
            <a:solidFill>
              <a:srgbClr val="FAF8F8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5678424" y="1097280"/>
            <a:ext cx="2103120" cy="347472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769864" y="111556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Flood-Fill BFS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6" name="Shape 30"/>
          <p:cNvSpPr/>
          <p:nvPr/>
        </p:nvSpPr>
        <p:spPr>
          <a:xfrm>
            <a:off x="5907024" y="1517904"/>
            <a:ext cx="1645920" cy="274320"/>
          </a:xfrm>
          <a:prstGeom prst="rect">
            <a:avLst/>
          </a:prstGeom>
          <a:solidFill>
            <a:srgbClr val="FAF8F8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907024" y="15179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✓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5788152" y="1920240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</a:t>
            </a:r>
            <a:endParaRPr lang="en-US" sz="120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2194560"/>
            <a:ext cx="201168" cy="20116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044184" y="21854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16×16 int array</a:t>
            </a:r>
            <a:endParaRPr lang="en-US" sz="12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2505456"/>
            <a:ext cx="201168" cy="20116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044184" y="24963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— adapts to new walls</a:t>
            </a:r>
            <a:endParaRPr lang="en-US" sz="1200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2816352"/>
            <a:ext cx="201168" cy="20116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044184" y="28072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BFS re-flood</a:t>
            </a:r>
            <a:endParaRPr lang="en-US" sz="120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3127248"/>
            <a:ext cx="201168" cy="20116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6044184" y="31181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on microcontroller</a:t>
            </a:r>
            <a:endParaRPr lang="en-US" sz="1200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3438144"/>
            <a:ext cx="201168" cy="201168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6044184" y="3429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unknown maze well</a:t>
            </a:r>
            <a:endParaRPr lang="en-US" sz="1200" dirty="0"/>
          </a:p>
        </p:txBody>
      </p:sp>
      <p:sp>
        <p:nvSpPr>
          <p:cNvPr id="49" name="Text 38"/>
          <p:cNvSpPr/>
          <p:nvPr/>
        </p:nvSpPr>
        <p:spPr>
          <a:xfrm>
            <a:off x="5788152" y="3913632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</a:t>
            </a:r>
            <a:endParaRPr lang="en-US" sz="1200" dirty="0"/>
          </a:p>
        </p:txBody>
      </p:sp>
      <p:sp>
        <p:nvSpPr>
          <p:cNvPr id="50" name="Text 39"/>
          <p:cNvSpPr/>
          <p:nvPr/>
        </p:nvSpPr>
        <p:spPr>
          <a:xfrm>
            <a:off x="5788152" y="418795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Re-floods on new wall</a:t>
            </a:r>
            <a:endParaRPr lang="en-US" sz="1200" dirty="0"/>
          </a:p>
        </p:txBody>
      </p:sp>
      <p:sp>
        <p:nvSpPr>
          <p:cNvPr id="51" name="Text 40"/>
          <p:cNvSpPr/>
          <p:nvPr/>
        </p:nvSpPr>
        <p:spPr>
          <a:xfrm>
            <a:off x="5788152" y="448056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Slightly complex code</a:t>
            </a:r>
            <a:endParaRPr lang="en-US" sz="1200" dirty="0"/>
          </a:p>
        </p:txBody>
      </p:sp>
      <p:sp>
        <p:nvSpPr>
          <p:cNvPr id="66" name="Text 53"/>
          <p:cNvSpPr/>
          <p:nvPr/>
        </p:nvSpPr>
        <p:spPr>
          <a:xfrm>
            <a:off x="-146304" y="4928616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9A60058-8AC7-C3D0-5E9E-D59529496FE0}"/>
              </a:ext>
            </a:extLst>
          </p:cNvPr>
          <p:cNvSpPr/>
          <p:nvPr/>
        </p:nvSpPr>
        <p:spPr>
          <a:xfrm>
            <a:off x="347472" y="25603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Pin Definitions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78A54D4-06BE-ABBF-F47F-126AEF7E5514}"/>
              </a:ext>
            </a:extLst>
          </p:cNvPr>
          <p:cNvSpPr/>
          <p:nvPr/>
        </p:nvSpPr>
        <p:spPr>
          <a:xfrm>
            <a:off x="360989" y="749808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#define and global variable declaration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EFBB8C3-3B6A-ABB1-8B28-D29BD68DE046}"/>
              </a:ext>
            </a:extLst>
          </p:cNvPr>
          <p:cNvSpPr/>
          <p:nvPr/>
        </p:nvSpPr>
        <p:spPr>
          <a:xfrm>
            <a:off x="256032" y="1078992"/>
            <a:ext cx="4297680" cy="3858768"/>
          </a:xfrm>
          <a:prstGeom prst="rect">
            <a:avLst/>
          </a:prstGeom>
          <a:solidFill>
            <a:srgbClr val="1E1E2E"/>
          </a:solidFill>
          <a:ln w="9525">
            <a:solidFill>
              <a:srgbClr val="2E2E4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7D58B45-8F45-5109-37AA-16F24E327782}"/>
              </a:ext>
            </a:extLst>
          </p:cNvPr>
          <p:cNvSpPr/>
          <p:nvPr/>
        </p:nvSpPr>
        <p:spPr>
          <a:xfrm>
            <a:off x="256032" y="1078992"/>
            <a:ext cx="4297680" cy="219456"/>
          </a:xfrm>
          <a:prstGeom prst="rect">
            <a:avLst/>
          </a:prstGeom>
          <a:solidFill>
            <a:srgbClr val="2E2E4E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14DF352-9B50-B7A8-7C5A-E181745C0CED}"/>
              </a:ext>
            </a:extLst>
          </p:cNvPr>
          <p:cNvSpPr/>
          <p:nvPr/>
        </p:nvSpPr>
        <p:spPr>
          <a:xfrm>
            <a:off x="320040" y="1124712"/>
            <a:ext cx="128016" cy="128016"/>
          </a:xfrm>
          <a:prstGeom prst="ellipse">
            <a:avLst/>
          </a:prstGeom>
          <a:solidFill>
            <a:srgbClr val="E8725A"/>
          </a:solidFill>
          <a:ln w="12700">
            <a:solidFill>
              <a:srgbClr val="E8725A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A80D911-D5DA-1AD4-AB01-8C379F1B7A9F}"/>
              </a:ext>
            </a:extLst>
          </p:cNvPr>
          <p:cNvSpPr/>
          <p:nvPr/>
        </p:nvSpPr>
        <p:spPr>
          <a:xfrm>
            <a:off x="484632" y="1124712"/>
            <a:ext cx="128016" cy="128016"/>
          </a:xfrm>
          <a:prstGeom prst="ellipse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E0B5F0F-A158-5666-1E7E-2F4E228F166E}"/>
              </a:ext>
            </a:extLst>
          </p:cNvPr>
          <p:cNvSpPr/>
          <p:nvPr/>
        </p:nvSpPr>
        <p:spPr>
          <a:xfrm>
            <a:off x="649224" y="1124712"/>
            <a:ext cx="128016" cy="128016"/>
          </a:xfrm>
          <a:prstGeom prst="ellipse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95069BC-F352-7A71-8FE7-75729EEB9BA9}"/>
              </a:ext>
            </a:extLst>
          </p:cNvPr>
          <p:cNvSpPr/>
          <p:nvPr/>
        </p:nvSpPr>
        <p:spPr>
          <a:xfrm>
            <a:off x="256032" y="1254318"/>
            <a:ext cx="4992624" cy="29960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====== MOTOR PINS ====== */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 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r>
              <a:rPr lang="en-US" sz="95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Motor A speed (PWM)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IN1 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r>
              <a:rPr lang="en-US" sz="95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Motor A direction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IN2 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ENB 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r>
              <a:rPr lang="en-US" sz="95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Motor B speed (PWM)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IN3 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r>
              <a:rPr lang="en-US" sz="95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Motor B direction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IN4 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====== ENCODER PINS ====== */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ENC_A1 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r>
              <a:rPr lang="en-US" sz="95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ISR trigger (RISING)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ENC_A2 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r>
              <a:rPr lang="en-US" sz="95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direction pin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ENC_B1 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r>
              <a:rPr lang="en-US" sz="95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ISR trigger (RISING)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ENC_B2 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r>
              <a:rPr lang="en-US" sz="95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direction pin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====== XSHUT PINS ====== */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XSHUT_FRONT 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XSHUT_LEFT  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XSHUT_RIGHT 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====== GLOBALS ====== */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volatile long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countA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0,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countB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gz_bias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0.0f;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yaw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0.0f;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posX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0,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posY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heading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NORTH;</a:t>
            </a:r>
            <a:endParaRPr lang="en-US" sz="9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13863C1-BBCC-339A-3485-2C19F052BACC}"/>
              </a:ext>
            </a:extLst>
          </p:cNvPr>
          <p:cNvSpPr/>
          <p:nvPr/>
        </p:nvSpPr>
        <p:spPr>
          <a:xfrm>
            <a:off x="4754880" y="1078992"/>
            <a:ext cx="205740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91E6261-278E-9E7C-F556-329873593039}"/>
              </a:ext>
            </a:extLst>
          </p:cNvPr>
          <p:cNvSpPr/>
          <p:nvPr/>
        </p:nvSpPr>
        <p:spPr>
          <a:xfrm>
            <a:off x="4754880" y="1078992"/>
            <a:ext cx="205740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135F79D-B65C-1CF7-C839-451D869FD694}"/>
              </a:ext>
            </a:extLst>
          </p:cNvPr>
          <p:cNvSpPr/>
          <p:nvPr/>
        </p:nvSpPr>
        <p:spPr>
          <a:xfrm>
            <a:off x="4846320" y="111556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A: ENA + IN1/IN2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5407EAC-1DE9-8B7C-D86F-1077555C1361}"/>
              </a:ext>
            </a:extLst>
          </p:cNvPr>
          <p:cNvSpPr/>
          <p:nvPr/>
        </p:nvSpPr>
        <p:spPr>
          <a:xfrm>
            <a:off x="4846320" y="144475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ENA  GPIO 25 → analogWrite() PWM speed control</a:t>
            </a: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A571305-B3B8-3F7E-5EE9-1B69BB76AB4A}"/>
              </a:ext>
            </a:extLst>
          </p:cNvPr>
          <p:cNvSpPr/>
          <p:nvPr/>
        </p:nvSpPr>
        <p:spPr>
          <a:xfrm>
            <a:off x="4846320" y="179222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IN1  GPIO 27 + IN2 GPIO 14 → forward/reverse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D8C355E-3EA8-A90C-E26B-88D33DFE79D1}"/>
              </a:ext>
            </a:extLst>
          </p:cNvPr>
          <p:cNvSpPr/>
          <p:nvPr/>
        </p:nvSpPr>
        <p:spPr>
          <a:xfrm>
            <a:off x="4846320" y="213969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setForward(): IN1=LOW, IN2=HIGH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5C3D07B-F8EB-58AB-A95D-13C39DA0DDB0}"/>
              </a:ext>
            </a:extLst>
          </p:cNvPr>
          <p:cNvSpPr/>
          <p:nvPr/>
        </p:nvSpPr>
        <p:spPr>
          <a:xfrm>
            <a:off x="4846320" y="24871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spinRight(): IN1=HIGH, IN2=LOW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4F904FC-3F73-5169-1B38-ED17848EEB94}"/>
              </a:ext>
            </a:extLst>
          </p:cNvPr>
          <p:cNvSpPr/>
          <p:nvPr/>
        </p:nvSpPr>
        <p:spPr>
          <a:xfrm>
            <a:off x="6912864" y="1078992"/>
            <a:ext cx="205740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0B2D34A-4E89-7314-CB96-B222894CA0C3}"/>
              </a:ext>
            </a:extLst>
          </p:cNvPr>
          <p:cNvSpPr/>
          <p:nvPr/>
        </p:nvSpPr>
        <p:spPr>
          <a:xfrm>
            <a:off x="6912864" y="1078992"/>
            <a:ext cx="205740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A220426-5913-4BAB-B31A-E0ECEAB6AC21}"/>
              </a:ext>
            </a:extLst>
          </p:cNvPr>
          <p:cNvSpPr/>
          <p:nvPr/>
        </p:nvSpPr>
        <p:spPr>
          <a:xfrm>
            <a:off x="7004304" y="111556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B: ENB + IN3/IN4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875C344-8B5D-5B13-ECB2-FB6937ECFD2C}"/>
              </a:ext>
            </a:extLst>
          </p:cNvPr>
          <p:cNvSpPr/>
          <p:nvPr/>
        </p:nvSpPr>
        <p:spPr>
          <a:xfrm>
            <a:off x="7004304" y="144475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ENB  GPIO 26 → analogWrite() PWM speed control</a:t>
            </a:r>
            <a:endParaRPr lang="en-US" sz="1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36A2470-5E62-26FA-F597-A1BD56564904}"/>
              </a:ext>
            </a:extLst>
          </p:cNvPr>
          <p:cNvSpPr/>
          <p:nvPr/>
        </p:nvSpPr>
        <p:spPr>
          <a:xfrm>
            <a:off x="7004304" y="179222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IN3  GPIO 12 + IN4 GPIO 13 → forward/reverse</a:t>
            </a:r>
            <a:endParaRPr lang="en-US" sz="10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3C6341A-7D11-0CFB-8532-45078C61AFE5}"/>
              </a:ext>
            </a:extLst>
          </p:cNvPr>
          <p:cNvSpPr/>
          <p:nvPr/>
        </p:nvSpPr>
        <p:spPr>
          <a:xfrm>
            <a:off x="7004304" y="213969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setForward(): IN3=LOW, IN4=HIGH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748882C-8073-0EB0-73BB-859898768964}"/>
              </a:ext>
            </a:extLst>
          </p:cNvPr>
          <p:cNvSpPr/>
          <p:nvPr/>
        </p:nvSpPr>
        <p:spPr>
          <a:xfrm>
            <a:off x="7004304" y="248716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spinLeft(): IN3=HIGH, IN4=LOW</a:t>
            </a:r>
            <a:endParaRPr lang="en-US" sz="1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FA2A67C-2AF7-44C7-F3A3-E9DA6231B5F1}"/>
              </a:ext>
            </a:extLst>
          </p:cNvPr>
          <p:cNvSpPr/>
          <p:nvPr/>
        </p:nvSpPr>
        <p:spPr>
          <a:xfrm>
            <a:off x="4754880" y="3017520"/>
            <a:ext cx="205740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AE94BC2-0BC4-0851-83A3-60094725C8C4}"/>
              </a:ext>
            </a:extLst>
          </p:cNvPr>
          <p:cNvSpPr/>
          <p:nvPr/>
        </p:nvSpPr>
        <p:spPr>
          <a:xfrm>
            <a:off x="4754880" y="3017520"/>
            <a:ext cx="205740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DDFB630-DA1F-3508-2C6D-F57D0A6E267E}"/>
              </a:ext>
            </a:extLst>
          </p:cNvPr>
          <p:cNvSpPr/>
          <p:nvPr/>
        </p:nvSpPr>
        <p:spPr>
          <a:xfrm>
            <a:off x="4846320" y="305409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 — IRAM_ATTR ISR</a:t>
            </a:r>
            <a:endParaRPr lang="en-US" sz="1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C529C55-5166-49A9-B5FC-20BEFAAB2D1A}"/>
              </a:ext>
            </a:extLst>
          </p:cNvPr>
          <p:cNvSpPr/>
          <p:nvPr/>
        </p:nvSpPr>
        <p:spPr>
          <a:xfrm>
            <a:off x="4846320" y="338328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ENC_A1 GPIO 32 → RISING edge triggers encoderA_ISR</a:t>
            </a:r>
            <a:endParaRPr lang="en-US" sz="10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ACD0BEF-E0B0-FB05-4590-BD2F8A27E5D9}"/>
              </a:ext>
            </a:extLst>
          </p:cNvPr>
          <p:cNvSpPr/>
          <p:nvPr/>
        </p:nvSpPr>
        <p:spPr>
          <a:xfrm>
            <a:off x="4846320" y="373075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ENC_A2 GPIO 33 → read for direction: HIGH=++ LOW=--</a:t>
            </a:r>
            <a:endParaRPr lang="en-US" sz="10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56EFB50-C2E3-5051-F15B-D28C1A544B0D}"/>
              </a:ext>
            </a:extLst>
          </p:cNvPr>
          <p:cNvSpPr/>
          <p:nvPr/>
        </p:nvSpPr>
        <p:spPr>
          <a:xfrm>
            <a:off x="4846320" y="407822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ENC_B1 GPIO 18 → RISING edge triggers encoderB_ISR</a:t>
            </a:r>
            <a:endParaRPr lang="en-US" sz="10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1D4386A-C129-0353-F262-622D4DA164E3}"/>
              </a:ext>
            </a:extLst>
          </p:cNvPr>
          <p:cNvSpPr/>
          <p:nvPr/>
        </p:nvSpPr>
        <p:spPr>
          <a:xfrm>
            <a:off x="4846320" y="442569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ENC_B2 GPIO 19 → direction for Motor B</a:t>
            </a:r>
            <a:endParaRPr lang="en-US" sz="10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A71D2EC-0DCC-97C1-B09D-B3C8132B68F8}"/>
              </a:ext>
            </a:extLst>
          </p:cNvPr>
          <p:cNvSpPr/>
          <p:nvPr/>
        </p:nvSpPr>
        <p:spPr>
          <a:xfrm>
            <a:off x="6912864" y="3017520"/>
            <a:ext cx="205740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10FAF84-57ED-3E01-9326-E9B714ED9674}"/>
              </a:ext>
            </a:extLst>
          </p:cNvPr>
          <p:cNvSpPr/>
          <p:nvPr/>
        </p:nvSpPr>
        <p:spPr>
          <a:xfrm>
            <a:off x="6912864" y="3017520"/>
            <a:ext cx="205740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03E6926-28A8-17D0-4E27-23F15046BC9E}"/>
              </a:ext>
            </a:extLst>
          </p:cNvPr>
          <p:cNvSpPr/>
          <p:nvPr/>
        </p:nvSpPr>
        <p:spPr>
          <a:xfrm>
            <a:off x="7004304" y="305409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XSHUT — Address Boot</a:t>
            </a:r>
            <a:endParaRPr lang="en-US" sz="1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1D303B2-2149-5AB9-92D7-376ED22F8CC5}"/>
              </a:ext>
            </a:extLst>
          </p:cNvPr>
          <p:cNvSpPr/>
          <p:nvPr/>
        </p:nvSpPr>
        <p:spPr>
          <a:xfrm>
            <a:off x="7004304" y="338328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GPIO 16 FRONT → init() → setAddress(0x30)</a:t>
            </a:r>
            <a:endParaRPr lang="en-US" sz="10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7AA2BFE8-C3CE-0E58-CF75-E5D88165AC5A}"/>
              </a:ext>
            </a:extLst>
          </p:cNvPr>
          <p:cNvSpPr/>
          <p:nvPr/>
        </p:nvSpPr>
        <p:spPr>
          <a:xfrm>
            <a:off x="7004304" y="373075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GPIO 17 LEFT  → init() → setAddress(0x31)</a:t>
            </a:r>
            <a:endParaRPr lang="en-US" sz="10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41909AD3-2ECC-3B41-1685-5B3E37C2A898}"/>
              </a:ext>
            </a:extLst>
          </p:cNvPr>
          <p:cNvSpPr/>
          <p:nvPr/>
        </p:nvSpPr>
        <p:spPr>
          <a:xfrm>
            <a:off x="7004304" y="407822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GPIO 4  RIGHT → init() → setAddress(0x32)</a:t>
            </a:r>
            <a:endParaRPr lang="en-US" sz="10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D3B5BEE0-C060-84C4-BB4F-21736D86010C}"/>
              </a:ext>
            </a:extLst>
          </p:cNvPr>
          <p:cNvSpPr/>
          <p:nvPr/>
        </p:nvSpPr>
        <p:spPr>
          <a:xfrm>
            <a:off x="7004304" y="442569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 3: setTimeout(250) ms</a:t>
            </a:r>
            <a:endParaRPr lang="en-US" sz="10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650DCDD-B739-8EDA-B657-2342D56C282A}"/>
              </a:ext>
            </a:extLst>
          </p:cNvPr>
          <p:cNvSpPr/>
          <p:nvPr/>
        </p:nvSpPr>
        <p:spPr>
          <a:xfrm>
            <a:off x="0" y="4910328"/>
            <a:ext cx="89611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664791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29B7D6B-D719-4170-71D2-DF1AD7289179}"/>
              </a:ext>
            </a:extLst>
          </p:cNvPr>
          <p:cNvSpPr/>
          <p:nvPr/>
        </p:nvSpPr>
        <p:spPr>
          <a:xfrm>
            <a:off x="347472" y="25603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Encoder ISRs &amp; Gyroscope Calibration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7000330-04AB-26CC-80BD-64E1FE904DB8}"/>
              </a:ext>
            </a:extLst>
          </p:cNvPr>
          <p:cNvSpPr/>
          <p:nvPr/>
        </p:nvSpPr>
        <p:spPr>
          <a:xfrm>
            <a:off x="347472" y="749808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IRAM_ATTR interrupt handlers + 800-sample calibrateGyro()</a:t>
            </a:r>
            <a:endParaRPr lang="en-US" sz="10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8F2D1D4-ABE3-58B6-E4E6-70F8F7AC07E3}"/>
              </a:ext>
            </a:extLst>
          </p:cNvPr>
          <p:cNvSpPr/>
          <p:nvPr/>
        </p:nvSpPr>
        <p:spPr>
          <a:xfrm>
            <a:off x="274320" y="1002636"/>
            <a:ext cx="4315968" cy="1719072"/>
          </a:xfrm>
          <a:prstGeom prst="rect">
            <a:avLst/>
          </a:prstGeom>
          <a:solidFill>
            <a:srgbClr val="1E1E2E"/>
          </a:solidFill>
          <a:ln w="9525">
            <a:solidFill>
              <a:srgbClr val="2E2E4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F2F0544-4FE4-F45A-8EE1-F5EBDD4F8E28}"/>
              </a:ext>
            </a:extLst>
          </p:cNvPr>
          <p:cNvSpPr/>
          <p:nvPr/>
        </p:nvSpPr>
        <p:spPr>
          <a:xfrm>
            <a:off x="274320" y="1002636"/>
            <a:ext cx="4315968" cy="219456"/>
          </a:xfrm>
          <a:prstGeom prst="rect">
            <a:avLst/>
          </a:prstGeom>
          <a:solidFill>
            <a:srgbClr val="2E2E4E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9EB48FF-543A-7AD8-6785-BF92872FED33}"/>
              </a:ext>
            </a:extLst>
          </p:cNvPr>
          <p:cNvSpPr/>
          <p:nvPr/>
        </p:nvSpPr>
        <p:spPr>
          <a:xfrm>
            <a:off x="338328" y="1048356"/>
            <a:ext cx="128016" cy="128016"/>
          </a:xfrm>
          <a:prstGeom prst="ellipse">
            <a:avLst/>
          </a:prstGeom>
          <a:solidFill>
            <a:srgbClr val="E8725A"/>
          </a:solidFill>
          <a:ln w="12700">
            <a:solidFill>
              <a:srgbClr val="E8725A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8916F09-DC10-0253-BEC9-235F64A4921D}"/>
              </a:ext>
            </a:extLst>
          </p:cNvPr>
          <p:cNvSpPr/>
          <p:nvPr/>
        </p:nvSpPr>
        <p:spPr>
          <a:xfrm>
            <a:off x="502920" y="1048356"/>
            <a:ext cx="128016" cy="128016"/>
          </a:xfrm>
          <a:prstGeom prst="ellipse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3CDFD07-DD86-94C8-BEAE-FA27D7DE5B16}"/>
              </a:ext>
            </a:extLst>
          </p:cNvPr>
          <p:cNvSpPr/>
          <p:nvPr/>
        </p:nvSpPr>
        <p:spPr>
          <a:xfrm>
            <a:off x="667512" y="1048356"/>
            <a:ext cx="128016" cy="128016"/>
          </a:xfrm>
          <a:prstGeom prst="ellipse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986085F-A1CB-13B3-0C59-BE75F861F74D}"/>
              </a:ext>
            </a:extLst>
          </p:cNvPr>
          <p:cNvSpPr/>
          <p:nvPr/>
        </p:nvSpPr>
        <p:spPr>
          <a:xfrm>
            <a:off x="384048" y="1276956"/>
            <a:ext cx="4096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Encoder ISRs — stored in IRAM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IRAM_ATTR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encoderA_ISR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(digitalRead(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ENC_A2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countA++;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countA--;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</a:t>
            </a:r>
            <a:r>
              <a:rPr lang="en-US" sz="950" dirty="0">
                <a:solidFill>
                  <a:srgbClr val="FAB3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IRAM_ATTR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encoderB_ISR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(digitalRead(</a:t>
            </a: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ENC_B2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countB++;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countB--;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5C754E7-575C-C2A7-5296-AFE4552FD61F}"/>
              </a:ext>
            </a:extLst>
          </p:cNvPr>
          <p:cNvSpPr/>
          <p:nvPr/>
        </p:nvSpPr>
        <p:spPr>
          <a:xfrm>
            <a:off x="274320" y="2807990"/>
            <a:ext cx="4315968" cy="2291158"/>
          </a:xfrm>
          <a:prstGeom prst="rect">
            <a:avLst/>
          </a:prstGeom>
          <a:solidFill>
            <a:srgbClr val="1E1E2E"/>
          </a:solidFill>
          <a:ln w="9525">
            <a:solidFill>
              <a:srgbClr val="2E2E4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BF030AA-22EC-2CED-C64A-5E06EAB6574D}"/>
              </a:ext>
            </a:extLst>
          </p:cNvPr>
          <p:cNvSpPr/>
          <p:nvPr/>
        </p:nvSpPr>
        <p:spPr>
          <a:xfrm>
            <a:off x="274320" y="2807989"/>
            <a:ext cx="4315968" cy="247693"/>
          </a:xfrm>
          <a:prstGeom prst="rect">
            <a:avLst/>
          </a:prstGeom>
          <a:solidFill>
            <a:srgbClr val="2E2E4E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AC2A8F4-FC0E-7E8B-BCEE-B7BD886AECDC}"/>
              </a:ext>
            </a:extLst>
          </p:cNvPr>
          <p:cNvSpPr/>
          <p:nvPr/>
        </p:nvSpPr>
        <p:spPr>
          <a:xfrm>
            <a:off x="338328" y="2853709"/>
            <a:ext cx="128016" cy="144487"/>
          </a:xfrm>
          <a:prstGeom prst="ellipse">
            <a:avLst/>
          </a:prstGeom>
          <a:solidFill>
            <a:srgbClr val="E8725A"/>
          </a:solidFill>
          <a:ln w="12700">
            <a:solidFill>
              <a:srgbClr val="E8725A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3E7D62F-A254-C2DD-FC00-FAD39A214B6D}"/>
              </a:ext>
            </a:extLst>
          </p:cNvPr>
          <p:cNvSpPr/>
          <p:nvPr/>
        </p:nvSpPr>
        <p:spPr>
          <a:xfrm>
            <a:off x="502920" y="2853709"/>
            <a:ext cx="128016" cy="144487"/>
          </a:xfrm>
          <a:prstGeom prst="ellipse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F851653-6490-474D-4CF2-C0FB8FCC7F1F}"/>
              </a:ext>
            </a:extLst>
          </p:cNvPr>
          <p:cNvSpPr/>
          <p:nvPr/>
        </p:nvSpPr>
        <p:spPr>
          <a:xfrm>
            <a:off x="667512" y="2853709"/>
            <a:ext cx="128016" cy="144487"/>
          </a:xfrm>
          <a:prstGeom prst="ellipse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64DCFCE-1B13-19A2-5D64-2DD9E30FB0CC}"/>
              </a:ext>
            </a:extLst>
          </p:cNvPr>
          <p:cNvSpPr/>
          <p:nvPr/>
        </p:nvSpPr>
        <p:spPr>
          <a:xfrm>
            <a:off x="384048" y="3082310"/>
            <a:ext cx="4096512" cy="18989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calibrateGyro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int N2 = 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800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float sum = 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for(int i=0; i&lt;N2; i++){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 +=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readGz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delay(</a:t>
            </a:r>
            <a:r>
              <a:rPr lang="en-US" sz="95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95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// 800 × 3ms = 2.4s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gz_bias = sum / N2;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loop — integrate yaw every tick: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gz =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readGz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- gz_bias;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yaw += gz * dt;  // rad/s × seconds</a:t>
            </a:r>
            <a:endParaRPr lang="en-US" sz="9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C0A368E-55D7-A65C-7606-3B60E15BC4C5}"/>
              </a:ext>
            </a:extLst>
          </p:cNvPr>
          <p:cNvSpPr/>
          <p:nvPr/>
        </p:nvSpPr>
        <p:spPr>
          <a:xfrm>
            <a:off x="4773168" y="1078992"/>
            <a:ext cx="4096512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3DA88E9-007E-BAE8-6907-91850C403FEC}"/>
              </a:ext>
            </a:extLst>
          </p:cNvPr>
          <p:cNvSpPr/>
          <p:nvPr/>
        </p:nvSpPr>
        <p:spPr>
          <a:xfrm>
            <a:off x="4773168" y="1078992"/>
            <a:ext cx="201168" cy="8778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A3043F6-35C7-FCC9-2691-2F46FCBFC793}"/>
              </a:ext>
            </a:extLst>
          </p:cNvPr>
          <p:cNvSpPr/>
          <p:nvPr/>
        </p:nvSpPr>
        <p:spPr>
          <a:xfrm>
            <a:off x="5102352" y="1152144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IRAM_ATTR — Why Critical</a:t>
            </a:r>
            <a:endParaRPr lang="en-US" sz="11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F27FE54-97FB-6623-12F7-1DF3C224AE78}"/>
              </a:ext>
            </a:extLst>
          </p:cNvPr>
          <p:cNvSpPr/>
          <p:nvPr/>
        </p:nvSpPr>
        <p:spPr>
          <a:xfrm>
            <a:off x="5102352" y="1444752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IRAM_ATTR places the ISR in internal SRAM. Without it, ESP32's flash cache misses during WiFi/SPI activity cause the ISR to stall — losing encoder pulses at high speed. Essential for reliable tick counting.</a:t>
            </a:r>
            <a:endParaRPr lang="en-US" sz="9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83934AF-7B72-76E1-E9EE-AF2D0B70752B}"/>
              </a:ext>
            </a:extLst>
          </p:cNvPr>
          <p:cNvSpPr/>
          <p:nvPr/>
        </p:nvSpPr>
        <p:spPr>
          <a:xfrm>
            <a:off x="4773168" y="2048256"/>
            <a:ext cx="4096512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28F99D6-FF62-1105-AD10-E4812BAD8316}"/>
              </a:ext>
            </a:extLst>
          </p:cNvPr>
          <p:cNvSpPr/>
          <p:nvPr/>
        </p:nvSpPr>
        <p:spPr>
          <a:xfrm>
            <a:off x="4773168" y="2048256"/>
            <a:ext cx="201168" cy="8778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68AFCE5-F57B-2EB6-C774-E20FEF76AF3C}"/>
              </a:ext>
            </a:extLst>
          </p:cNvPr>
          <p:cNvSpPr/>
          <p:nvPr/>
        </p:nvSpPr>
        <p:spPr>
          <a:xfrm>
            <a:off x="5102352" y="2121408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Quadrature Direction Logic</a:t>
            </a:r>
            <a:endParaRPr lang="en-US" sz="11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3B99614-1D0D-067C-3E4A-05FBA2F6E4D9}"/>
              </a:ext>
            </a:extLst>
          </p:cNvPr>
          <p:cNvSpPr/>
          <p:nvPr/>
        </p:nvSpPr>
        <p:spPr>
          <a:xfrm>
            <a:off x="5102352" y="2414016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RISING edge of ENC_A1, the ISR immediately reads ENC_A2: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→ wheel moving forward → countA++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 → wheel moving backward → countA--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 mirrors for Motor B via ENC_B2.</a:t>
            </a:r>
            <a:endParaRPr lang="en-US" sz="95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57D0008-2865-C0F3-F8F9-C7F10C58E666}"/>
              </a:ext>
            </a:extLst>
          </p:cNvPr>
          <p:cNvSpPr/>
          <p:nvPr/>
        </p:nvSpPr>
        <p:spPr>
          <a:xfrm>
            <a:off x="4773168" y="3017520"/>
            <a:ext cx="4096512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10B2EB9-5B2E-7EAF-A09D-26E72422888D}"/>
              </a:ext>
            </a:extLst>
          </p:cNvPr>
          <p:cNvSpPr/>
          <p:nvPr/>
        </p:nvSpPr>
        <p:spPr>
          <a:xfrm>
            <a:off x="4773168" y="3017520"/>
            <a:ext cx="201168" cy="8778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9726B02-1A34-1B84-7787-3B82F9F60408}"/>
              </a:ext>
            </a:extLst>
          </p:cNvPr>
          <p:cNvSpPr/>
          <p:nvPr/>
        </p:nvSpPr>
        <p:spPr>
          <a:xfrm>
            <a:off x="5102352" y="3090672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Gyro Calibration — 800 samples</a:t>
            </a:r>
            <a:endParaRPr lang="en-US" sz="11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E51FB9B-1B4C-BDEC-7B83-41B8343A1932}"/>
              </a:ext>
            </a:extLst>
          </p:cNvPr>
          <p:cNvSpPr/>
          <p:nvPr/>
        </p:nvSpPr>
        <p:spPr>
          <a:xfrm>
            <a:off x="5102352" y="3383280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samples × 3ms delay = 2.4 seconds of robot stillness at startup. Averages raw gz readings to compute gz_bias. Every future readGz() call subtracts this bias to eliminate zero-offset drift.</a:t>
            </a:r>
            <a:endParaRPr lang="en-US" sz="9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668F897-4140-ABA9-FDE1-5783BE3F6C0D}"/>
              </a:ext>
            </a:extLst>
          </p:cNvPr>
          <p:cNvSpPr/>
          <p:nvPr/>
        </p:nvSpPr>
        <p:spPr>
          <a:xfrm>
            <a:off x="4773168" y="3986784"/>
            <a:ext cx="4096512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62E1C24-0318-2258-735C-DEF5165EFCD5}"/>
              </a:ext>
            </a:extLst>
          </p:cNvPr>
          <p:cNvSpPr/>
          <p:nvPr/>
        </p:nvSpPr>
        <p:spPr>
          <a:xfrm>
            <a:off x="4773168" y="3986784"/>
            <a:ext cx="201168" cy="87782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F53EEDA-57BF-BFA9-AAC8-61FCCC2A9F47}"/>
              </a:ext>
            </a:extLst>
          </p:cNvPr>
          <p:cNvSpPr/>
          <p:nvPr/>
        </p:nvSpPr>
        <p:spPr>
          <a:xfrm>
            <a:off x="5102352" y="4059936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 Integration</a:t>
            </a:r>
            <a:endParaRPr lang="en-US" sz="115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D79B4AD3-E0F6-AC52-8FEF-CA17814A8E93}"/>
              </a:ext>
            </a:extLst>
          </p:cNvPr>
          <p:cNvSpPr/>
          <p:nvPr/>
        </p:nvSpPr>
        <p:spPr>
          <a:xfrm>
            <a:off x="5102352" y="4352544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loop: float gz = readGz() - gz_bias; yaw += gz * dt;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dt guard (if dt &lt; 0.005f return) ensures minimum 5ms between corrections — prevents noise amplification from extremely fast dt values.</a:t>
            </a:r>
            <a:endParaRPr lang="en-US" sz="9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6701AF0-4FB4-794C-3611-FD280178A24C}"/>
              </a:ext>
            </a:extLst>
          </p:cNvPr>
          <p:cNvSpPr/>
          <p:nvPr/>
        </p:nvSpPr>
        <p:spPr>
          <a:xfrm>
            <a:off x="0" y="4910328"/>
            <a:ext cx="89611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29157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6279ADC-D155-A1A2-4701-811C112503F3}"/>
              </a:ext>
            </a:extLst>
          </p:cNvPr>
          <p:cNvSpPr/>
          <p:nvPr/>
        </p:nvSpPr>
        <p:spPr>
          <a:xfrm>
            <a:off x="347472" y="25603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LiDAR Setup - setupSensors() with XSHUT Cycling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64741A8-C39C-4141-F964-D3B32D6F2903}"/>
              </a:ext>
            </a:extLst>
          </p:cNvPr>
          <p:cNvSpPr/>
          <p:nvPr/>
        </p:nvSpPr>
        <p:spPr>
          <a:xfrm>
            <a:off x="347472" y="621792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VL53L0X sensors start at address 0x29 — sequential boot assigns unique addresses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9A6FE29-6FDB-F741-C4F1-9EAA2F7A4E09}"/>
              </a:ext>
            </a:extLst>
          </p:cNvPr>
          <p:cNvSpPr/>
          <p:nvPr/>
        </p:nvSpPr>
        <p:spPr>
          <a:xfrm>
            <a:off x="256032" y="909629"/>
            <a:ext cx="4681728" cy="4178807"/>
          </a:xfrm>
          <a:prstGeom prst="rect">
            <a:avLst/>
          </a:prstGeom>
          <a:solidFill>
            <a:srgbClr val="1E1E2E"/>
          </a:solidFill>
          <a:ln w="9525">
            <a:solidFill>
              <a:srgbClr val="2E2E4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DDA097F-43D9-B58D-0B07-3FDC055458D7}"/>
              </a:ext>
            </a:extLst>
          </p:cNvPr>
          <p:cNvSpPr/>
          <p:nvPr/>
        </p:nvSpPr>
        <p:spPr>
          <a:xfrm>
            <a:off x="256032" y="863909"/>
            <a:ext cx="4681728" cy="173736"/>
          </a:xfrm>
          <a:prstGeom prst="rect">
            <a:avLst/>
          </a:prstGeom>
          <a:solidFill>
            <a:srgbClr val="2E2E4E"/>
          </a:solidFill>
          <a:ln w="12700">
            <a:solidFill>
              <a:srgbClr val="2E2E4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52C38A0-1C9F-0CC7-453E-FE8E34A0027B}"/>
              </a:ext>
            </a:extLst>
          </p:cNvPr>
          <p:cNvSpPr/>
          <p:nvPr/>
        </p:nvSpPr>
        <p:spPr>
          <a:xfrm>
            <a:off x="320040" y="909629"/>
            <a:ext cx="128016" cy="128016"/>
          </a:xfrm>
          <a:prstGeom prst="ellipse">
            <a:avLst/>
          </a:prstGeom>
          <a:solidFill>
            <a:srgbClr val="E8725A"/>
          </a:solidFill>
          <a:ln w="12700">
            <a:solidFill>
              <a:srgbClr val="E8725A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9A65BA5-75CD-99E7-0B70-1519CF0C4AF4}"/>
              </a:ext>
            </a:extLst>
          </p:cNvPr>
          <p:cNvSpPr/>
          <p:nvPr/>
        </p:nvSpPr>
        <p:spPr>
          <a:xfrm>
            <a:off x="484632" y="909629"/>
            <a:ext cx="128016" cy="128016"/>
          </a:xfrm>
          <a:prstGeom prst="ellipse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6DFD386-BEF6-D904-5357-42A74611AA1E}"/>
              </a:ext>
            </a:extLst>
          </p:cNvPr>
          <p:cNvSpPr/>
          <p:nvPr/>
        </p:nvSpPr>
        <p:spPr>
          <a:xfrm>
            <a:off x="649224" y="909629"/>
            <a:ext cx="128016" cy="128016"/>
          </a:xfrm>
          <a:prstGeom prst="ellipse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BE9419F-AD2B-9EDF-B351-06DEB8D12294}"/>
              </a:ext>
            </a:extLst>
          </p:cNvPr>
          <p:cNvSpPr/>
          <p:nvPr/>
        </p:nvSpPr>
        <p:spPr>
          <a:xfrm>
            <a:off x="219456" y="991925"/>
            <a:ext cx="4352544" cy="35025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setupSensors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pinMode(XSHUT_FRONT, OUTPUT);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pinMode(XSHUT_LEFT,  OUTPUT);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pinMode(XSHUT_RIGHT, OUTPUT);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Pull ALL sensors into hardware reset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digitalWrite(XSHUT_FRONT, LOW);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digitalWrite(XSHUT_LEFT,  LOW);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digitalWrite(XSHUT_RIGHT, LOW);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Wake FRONT, init, assign 0x30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digitalWrite(XSHUT_FRONT, HIGH); delay(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frontSensor.init();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frontSensor.setAddress(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0x30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Wake LEFT, init, assign 0x31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digitalWrite(XSHUT_LEFT, HIGH); delay(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leftSensor.init();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leftSensor.setAddress(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0x31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Wake RIGHT, init, assign 0x32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digitalWrite(XSHUT_RIGHT, HIGH); delay(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rightSensor.init();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rightSensor.setAddress(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0x32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frontSensor.setTimeout(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leftSensor.setTimeout( 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rightSensor.setTimeout(</a:t>
            </a:r>
            <a:r>
              <a:rPr lang="en-US" sz="9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286744E-72F7-F478-F849-5F1BD7480821}"/>
              </a:ext>
            </a:extLst>
          </p:cNvPr>
          <p:cNvSpPr/>
          <p:nvPr/>
        </p:nvSpPr>
        <p:spPr>
          <a:xfrm>
            <a:off x="5138928" y="859536"/>
            <a:ext cx="3749040" cy="4178806"/>
          </a:xfrm>
          <a:prstGeom prst="rect">
            <a:avLst/>
          </a:prstGeom>
          <a:solidFill>
            <a:srgbClr val="FAF8F8"/>
          </a:solidFill>
          <a:ln w="6350">
            <a:solidFill>
              <a:srgbClr val="FAF8F8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9E2DF96-EB5C-6EA1-619E-0C08D7C00631}"/>
              </a:ext>
            </a:extLst>
          </p:cNvPr>
          <p:cNvSpPr/>
          <p:nvPr/>
        </p:nvSpPr>
        <p:spPr>
          <a:xfrm>
            <a:off x="5321808" y="932688"/>
            <a:ext cx="3401568" cy="356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Sequential Booting?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DEC2A54-1DC5-A461-7AD1-8378ADF7E2AE}"/>
              </a:ext>
            </a:extLst>
          </p:cNvPr>
          <p:cNvSpPr/>
          <p:nvPr/>
        </p:nvSpPr>
        <p:spPr>
          <a:xfrm>
            <a:off x="5321808" y="1316735"/>
            <a:ext cx="3401568" cy="792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VL53L0X sensors share the same default I²C address (0x29). XSHUT = LOW forces hardware reset, keeping a sensor silent. Only the active sensor is visible on the bus during address assignment.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484F016-0778-AE6D-F493-4FFDB32BE2BA}"/>
              </a:ext>
            </a:extLst>
          </p:cNvPr>
          <p:cNvSpPr/>
          <p:nvPr/>
        </p:nvSpPr>
        <p:spPr>
          <a:xfrm>
            <a:off x="5230368" y="2121408"/>
            <a:ext cx="3584448" cy="6139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BFD95AD-C44E-5781-A9A9-D924E1B1A48C}"/>
              </a:ext>
            </a:extLst>
          </p:cNvPr>
          <p:cNvSpPr/>
          <p:nvPr/>
        </p:nvSpPr>
        <p:spPr>
          <a:xfrm>
            <a:off x="5257800" y="2221991"/>
            <a:ext cx="365760" cy="396095"/>
          </a:xfrm>
          <a:prstGeom prst="ellipse">
            <a:avLst/>
          </a:prstGeom>
          <a:solidFill>
            <a:srgbClr val="CBA7A8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4B6AAEE-CF65-68B3-823A-90CEBDC0B419}"/>
              </a:ext>
            </a:extLst>
          </p:cNvPr>
          <p:cNvSpPr/>
          <p:nvPr/>
        </p:nvSpPr>
        <p:spPr>
          <a:xfrm>
            <a:off x="5257800" y="2221991"/>
            <a:ext cx="365760" cy="396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9A50D93-F55E-3DF8-D3AF-0250F2F52275}"/>
              </a:ext>
            </a:extLst>
          </p:cNvPr>
          <p:cNvSpPr/>
          <p:nvPr/>
        </p:nvSpPr>
        <p:spPr>
          <a:xfrm>
            <a:off x="5705856" y="2176271"/>
            <a:ext cx="3035808" cy="277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→ RESET (LOW)</a:t>
            </a:r>
            <a:endParaRPr lang="en-US" sz="10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1FFB834-4770-1876-805C-4EF0F2A33A06}"/>
              </a:ext>
            </a:extLst>
          </p:cNvPr>
          <p:cNvSpPr/>
          <p:nvPr/>
        </p:nvSpPr>
        <p:spPr>
          <a:xfrm>
            <a:off x="5705856" y="2441447"/>
            <a:ext cx="3035808" cy="237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XSHUT pins pulled LOW simultaneously. All sensors enter hardware reset — none respond to I²C.</a:t>
            </a:r>
            <a:endParaRPr lang="en-US" sz="9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C38B32E-CF60-13B8-F50A-CF8557E3F4D9}"/>
              </a:ext>
            </a:extLst>
          </p:cNvPr>
          <p:cNvSpPr/>
          <p:nvPr/>
        </p:nvSpPr>
        <p:spPr>
          <a:xfrm>
            <a:off x="5230368" y="2844235"/>
            <a:ext cx="3584448" cy="6139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F08FC80-BA80-8554-5FAA-867B9A35B406}"/>
              </a:ext>
            </a:extLst>
          </p:cNvPr>
          <p:cNvSpPr/>
          <p:nvPr/>
        </p:nvSpPr>
        <p:spPr>
          <a:xfrm>
            <a:off x="5257800" y="2944818"/>
            <a:ext cx="365760" cy="396095"/>
          </a:xfrm>
          <a:prstGeom prst="ellipse">
            <a:avLst/>
          </a:prstGeom>
          <a:solidFill>
            <a:srgbClr val="CBA7A8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9E440C7-9DC9-59F1-FC40-ADB3C9A0ACFD}"/>
              </a:ext>
            </a:extLst>
          </p:cNvPr>
          <p:cNvSpPr/>
          <p:nvPr/>
        </p:nvSpPr>
        <p:spPr>
          <a:xfrm>
            <a:off x="5257800" y="2944818"/>
            <a:ext cx="365760" cy="396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436D93B-E4C3-88B8-7A87-F2422D631C2D}"/>
              </a:ext>
            </a:extLst>
          </p:cNvPr>
          <p:cNvSpPr/>
          <p:nvPr/>
        </p:nvSpPr>
        <p:spPr>
          <a:xfrm>
            <a:off x="5701284" y="2860064"/>
            <a:ext cx="3035808" cy="277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→ HIGH (0x30)</a:t>
            </a:r>
            <a:endParaRPr lang="en-US" sz="10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0B24E51-6E12-1FF0-60F6-555A2F34037A}"/>
              </a:ext>
            </a:extLst>
          </p:cNvPr>
          <p:cNvSpPr/>
          <p:nvPr/>
        </p:nvSpPr>
        <p:spPr>
          <a:xfrm>
            <a:off x="5715000" y="3131286"/>
            <a:ext cx="3035808" cy="237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FRONT wakes up. frontSensor.init() communicates at default 0x29. setAddress(0x30) → FRONT now lives at 0x30 permanently.</a:t>
            </a:r>
            <a:endParaRPr lang="en-US" sz="9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2F50367-2D4A-A8FA-F8C0-4AAC19A254FC}"/>
              </a:ext>
            </a:extLst>
          </p:cNvPr>
          <p:cNvSpPr/>
          <p:nvPr/>
        </p:nvSpPr>
        <p:spPr>
          <a:xfrm>
            <a:off x="5230368" y="3606089"/>
            <a:ext cx="3584448" cy="6139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C99A270-FDBC-B8A3-6078-581AA8B7D6CD}"/>
              </a:ext>
            </a:extLst>
          </p:cNvPr>
          <p:cNvSpPr/>
          <p:nvPr/>
        </p:nvSpPr>
        <p:spPr>
          <a:xfrm>
            <a:off x="5257800" y="3706672"/>
            <a:ext cx="365760" cy="396095"/>
          </a:xfrm>
          <a:prstGeom prst="ellipse">
            <a:avLst/>
          </a:prstGeom>
          <a:solidFill>
            <a:srgbClr val="CBA7A8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526EBD4-DDB5-4ED7-1E13-261AB0006323}"/>
              </a:ext>
            </a:extLst>
          </p:cNvPr>
          <p:cNvSpPr/>
          <p:nvPr/>
        </p:nvSpPr>
        <p:spPr>
          <a:xfrm>
            <a:off x="5257800" y="3706672"/>
            <a:ext cx="365760" cy="396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1F39F33-5F77-82CE-E731-9569B5B48971}"/>
              </a:ext>
            </a:extLst>
          </p:cNvPr>
          <p:cNvSpPr/>
          <p:nvPr/>
        </p:nvSpPr>
        <p:spPr>
          <a:xfrm>
            <a:off x="5705856" y="3660952"/>
            <a:ext cx="3035808" cy="277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 → HIGH (0x31)</a:t>
            </a:r>
            <a:endParaRPr lang="en-US" sz="10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2DA757C-4C32-0BFD-BEC0-BA33483B7EE9}"/>
              </a:ext>
            </a:extLst>
          </p:cNvPr>
          <p:cNvSpPr/>
          <p:nvPr/>
        </p:nvSpPr>
        <p:spPr>
          <a:xfrm>
            <a:off x="5705856" y="3926128"/>
            <a:ext cx="3035808" cy="237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wakes up. leftSensor.init() at 0x29 (FRONT is at 0x30, no collision). setAddress(0x31) → LEFT locked at 0x31.</a:t>
            </a:r>
            <a:endParaRPr lang="en-US" sz="9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9B5E29F-FBB2-7E00-BD41-07D883B9ACC4}"/>
              </a:ext>
            </a:extLst>
          </p:cNvPr>
          <p:cNvSpPr/>
          <p:nvPr/>
        </p:nvSpPr>
        <p:spPr>
          <a:xfrm>
            <a:off x="5230368" y="4350675"/>
            <a:ext cx="3584448" cy="6139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B3CFDBF-9FB1-D4D9-C600-BDDA440626E0}"/>
              </a:ext>
            </a:extLst>
          </p:cNvPr>
          <p:cNvSpPr/>
          <p:nvPr/>
        </p:nvSpPr>
        <p:spPr>
          <a:xfrm>
            <a:off x="5257800" y="4451258"/>
            <a:ext cx="365760" cy="396095"/>
          </a:xfrm>
          <a:prstGeom prst="ellipse">
            <a:avLst/>
          </a:prstGeom>
          <a:solidFill>
            <a:srgbClr val="CBA7A8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3E0CE48-1247-75AA-54E9-51ED8F4D53D9}"/>
              </a:ext>
            </a:extLst>
          </p:cNvPr>
          <p:cNvSpPr/>
          <p:nvPr/>
        </p:nvSpPr>
        <p:spPr>
          <a:xfrm>
            <a:off x="5257800" y="4451258"/>
            <a:ext cx="365760" cy="396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3DBC79F-504D-B2DD-9DD6-6FED67DCCFEA}"/>
              </a:ext>
            </a:extLst>
          </p:cNvPr>
          <p:cNvSpPr/>
          <p:nvPr/>
        </p:nvSpPr>
        <p:spPr>
          <a:xfrm>
            <a:off x="5705856" y="4405538"/>
            <a:ext cx="3035808" cy="277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→ HIGH (0x32)</a:t>
            </a:r>
            <a:endParaRPr lang="en-US" sz="10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13EE7A5-77C5-1AEF-8C48-DEE1752AA70C}"/>
              </a:ext>
            </a:extLst>
          </p:cNvPr>
          <p:cNvSpPr/>
          <p:nvPr/>
        </p:nvSpPr>
        <p:spPr>
          <a:xfrm>
            <a:off x="5705856" y="4670714"/>
            <a:ext cx="3035808" cy="237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wakes up. rightSensor at 0x29. setAddress(0x32). Now all 3 sensors on same bus: 0x30, 0x31, 0x32. setTimeout(250ms) each.</a:t>
            </a:r>
            <a:endParaRPr lang="en-US" sz="9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521957E8-C873-78DD-9D9C-312CB66E6675}"/>
              </a:ext>
            </a:extLst>
          </p:cNvPr>
          <p:cNvSpPr/>
          <p:nvPr/>
        </p:nvSpPr>
        <p:spPr>
          <a:xfrm>
            <a:off x="5650992" y="3346704"/>
            <a:ext cx="3529584" cy="297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F0216BE-A4EA-7D20-D78F-D372817DB140}"/>
              </a:ext>
            </a:extLst>
          </p:cNvPr>
          <p:cNvSpPr/>
          <p:nvPr/>
        </p:nvSpPr>
        <p:spPr>
          <a:xfrm>
            <a:off x="0" y="4910328"/>
            <a:ext cx="89611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514397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7B9C19A-2924-72D7-7D3D-F39A1B532467}"/>
              </a:ext>
            </a:extLst>
          </p:cNvPr>
          <p:cNvSpPr/>
          <p:nvPr/>
        </p:nvSpPr>
        <p:spPr>
          <a:xfrm>
            <a:off x="256032" y="185057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Flood-Fill — initFlood(), </a:t>
            </a:r>
            <a:r>
              <a:rPr lang="en-US" sz="2400" b="1" dirty="0" err="1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floodFill</a:t>
            </a: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(),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 selectDirection()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BFAA7A5-4848-8F14-F151-748E2BAC8D74}"/>
              </a:ext>
            </a:extLst>
          </p:cNvPr>
          <p:cNvSpPr/>
          <p:nvPr/>
        </p:nvSpPr>
        <p:spPr>
          <a:xfrm>
            <a:off x="288254" y="822960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 maze with 4 goal cells at (3,3)(3,4)(4,3)(4,4)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31CDA2-8317-74B3-414B-37671B165194}"/>
              </a:ext>
            </a:extLst>
          </p:cNvPr>
          <p:cNvSpPr/>
          <p:nvPr/>
        </p:nvSpPr>
        <p:spPr>
          <a:xfrm>
            <a:off x="256032" y="1078992"/>
            <a:ext cx="3063240" cy="3108960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1AF4B3-A5E1-D659-6CAC-C6C443BDE367}"/>
              </a:ext>
            </a:extLst>
          </p:cNvPr>
          <p:cNvSpPr/>
          <p:nvPr/>
        </p:nvSpPr>
        <p:spPr>
          <a:xfrm>
            <a:off x="329184" y="1133856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 Flood Grid — Manhattan dist to 4 goals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591C01F-3AA9-7382-6B4E-D153C3AC4A2E}"/>
              </a:ext>
            </a:extLst>
          </p:cNvPr>
          <p:cNvSpPr/>
          <p:nvPr/>
        </p:nvSpPr>
        <p:spPr>
          <a:xfrm>
            <a:off x="338328" y="3730752"/>
            <a:ext cx="310896" cy="31089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B2A36BA-0F55-3282-468F-735AAC4B75B5}"/>
              </a:ext>
            </a:extLst>
          </p:cNvPr>
          <p:cNvSpPr/>
          <p:nvPr/>
        </p:nvSpPr>
        <p:spPr>
          <a:xfrm>
            <a:off x="338328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6A829A7-B88B-B0F3-0E3B-70D7CA18ADE0}"/>
              </a:ext>
            </a:extLst>
          </p:cNvPr>
          <p:cNvSpPr/>
          <p:nvPr/>
        </p:nvSpPr>
        <p:spPr>
          <a:xfrm>
            <a:off x="667512" y="3730752"/>
            <a:ext cx="310896" cy="310896"/>
          </a:xfrm>
          <a:prstGeom prst="rect">
            <a:avLst/>
          </a:prstGeom>
          <a:solidFill>
            <a:srgbClr val="F0E8FA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B8AA60C-877F-168C-54FE-6422DA52DB9F}"/>
              </a:ext>
            </a:extLst>
          </p:cNvPr>
          <p:cNvSpPr/>
          <p:nvPr/>
        </p:nvSpPr>
        <p:spPr>
          <a:xfrm>
            <a:off x="667512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EE58B58-E162-23A3-1276-BFBF79EF6E4B}"/>
              </a:ext>
            </a:extLst>
          </p:cNvPr>
          <p:cNvSpPr/>
          <p:nvPr/>
        </p:nvSpPr>
        <p:spPr>
          <a:xfrm>
            <a:off x="996696" y="3730752"/>
            <a:ext cx="310896" cy="310896"/>
          </a:xfrm>
          <a:prstGeom prst="rect">
            <a:avLst/>
          </a:prstGeom>
          <a:solidFill>
            <a:srgbClr val="F0E8FA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0342FC6-0385-FC04-B6E7-3E62A2B80582}"/>
              </a:ext>
            </a:extLst>
          </p:cNvPr>
          <p:cNvSpPr/>
          <p:nvPr/>
        </p:nvSpPr>
        <p:spPr>
          <a:xfrm>
            <a:off x="996696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2DB9AFA-B6CB-D60C-49F8-3327F1C830D8}"/>
              </a:ext>
            </a:extLst>
          </p:cNvPr>
          <p:cNvSpPr/>
          <p:nvPr/>
        </p:nvSpPr>
        <p:spPr>
          <a:xfrm>
            <a:off x="1325880" y="3730752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B282B5A-EA6E-004F-2EE5-701763C4D806}"/>
              </a:ext>
            </a:extLst>
          </p:cNvPr>
          <p:cNvSpPr/>
          <p:nvPr/>
        </p:nvSpPr>
        <p:spPr>
          <a:xfrm>
            <a:off x="1325880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96394D1-5D41-6390-D4DE-B9927CA4736C}"/>
              </a:ext>
            </a:extLst>
          </p:cNvPr>
          <p:cNvSpPr/>
          <p:nvPr/>
        </p:nvSpPr>
        <p:spPr>
          <a:xfrm>
            <a:off x="1655064" y="3730752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ADF4EE-AA90-8CF7-56AD-210F9D08E7EF}"/>
              </a:ext>
            </a:extLst>
          </p:cNvPr>
          <p:cNvSpPr/>
          <p:nvPr/>
        </p:nvSpPr>
        <p:spPr>
          <a:xfrm>
            <a:off x="1655064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29ABF48-7989-4939-8B41-1449CB3BD49E}"/>
              </a:ext>
            </a:extLst>
          </p:cNvPr>
          <p:cNvSpPr/>
          <p:nvPr/>
        </p:nvSpPr>
        <p:spPr>
          <a:xfrm>
            <a:off x="1984248" y="3730752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EDACB6C-B6A9-CA63-5B30-994501A06391}"/>
              </a:ext>
            </a:extLst>
          </p:cNvPr>
          <p:cNvSpPr/>
          <p:nvPr/>
        </p:nvSpPr>
        <p:spPr>
          <a:xfrm>
            <a:off x="1984248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D99A397-E219-5969-99EC-F7798421E0B3}"/>
              </a:ext>
            </a:extLst>
          </p:cNvPr>
          <p:cNvSpPr/>
          <p:nvPr/>
        </p:nvSpPr>
        <p:spPr>
          <a:xfrm>
            <a:off x="2313432" y="3730752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2D36F2D-4DF7-A447-6163-4AE13E6B23F3}"/>
              </a:ext>
            </a:extLst>
          </p:cNvPr>
          <p:cNvSpPr/>
          <p:nvPr/>
        </p:nvSpPr>
        <p:spPr>
          <a:xfrm>
            <a:off x="2313432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D775456-78A9-A13F-C776-E16D07310A68}"/>
              </a:ext>
            </a:extLst>
          </p:cNvPr>
          <p:cNvSpPr/>
          <p:nvPr/>
        </p:nvSpPr>
        <p:spPr>
          <a:xfrm>
            <a:off x="2642616" y="3730752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AE1939C-1E6F-FEDF-ED07-2190DD3D97E1}"/>
              </a:ext>
            </a:extLst>
          </p:cNvPr>
          <p:cNvSpPr/>
          <p:nvPr/>
        </p:nvSpPr>
        <p:spPr>
          <a:xfrm>
            <a:off x="2642616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700B82B-A617-2307-A29C-407C32CF2619}"/>
              </a:ext>
            </a:extLst>
          </p:cNvPr>
          <p:cNvSpPr/>
          <p:nvPr/>
        </p:nvSpPr>
        <p:spPr>
          <a:xfrm>
            <a:off x="338328" y="3401568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612320BC-70EB-0816-9396-D17F560B2785}"/>
              </a:ext>
            </a:extLst>
          </p:cNvPr>
          <p:cNvSpPr/>
          <p:nvPr/>
        </p:nvSpPr>
        <p:spPr>
          <a:xfrm>
            <a:off x="338328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269066F-D428-FF77-E0F2-1406F5E6F042}"/>
              </a:ext>
            </a:extLst>
          </p:cNvPr>
          <p:cNvSpPr/>
          <p:nvPr/>
        </p:nvSpPr>
        <p:spPr>
          <a:xfrm>
            <a:off x="667512" y="3401568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EB8CDCB-4B55-9130-24F9-5F532C44666D}"/>
              </a:ext>
            </a:extLst>
          </p:cNvPr>
          <p:cNvSpPr/>
          <p:nvPr/>
        </p:nvSpPr>
        <p:spPr>
          <a:xfrm>
            <a:off x="667512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5C438467-70AD-7679-2F19-F070475B35B4}"/>
              </a:ext>
            </a:extLst>
          </p:cNvPr>
          <p:cNvSpPr/>
          <p:nvPr/>
        </p:nvSpPr>
        <p:spPr>
          <a:xfrm>
            <a:off x="996696" y="3401568"/>
            <a:ext cx="310896" cy="310896"/>
          </a:xfrm>
          <a:prstGeom prst="rect">
            <a:avLst/>
          </a:prstGeom>
          <a:solidFill>
            <a:srgbClr val="F0E8FA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5FF2618-8144-2FE1-E399-2999FF027086}"/>
              </a:ext>
            </a:extLst>
          </p:cNvPr>
          <p:cNvSpPr/>
          <p:nvPr/>
        </p:nvSpPr>
        <p:spPr>
          <a:xfrm>
            <a:off x="996696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6017E13-1132-FCC6-6F27-EEE8CC366C30}"/>
              </a:ext>
            </a:extLst>
          </p:cNvPr>
          <p:cNvSpPr/>
          <p:nvPr/>
        </p:nvSpPr>
        <p:spPr>
          <a:xfrm>
            <a:off x="1325880" y="3401568"/>
            <a:ext cx="310896" cy="310896"/>
          </a:xfrm>
          <a:prstGeom prst="rect">
            <a:avLst/>
          </a:prstGeom>
          <a:solidFill>
            <a:srgbClr val="F0E8FA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259C1E1-77C5-D6E4-B78C-87EA15B92E43}"/>
              </a:ext>
            </a:extLst>
          </p:cNvPr>
          <p:cNvSpPr/>
          <p:nvPr/>
        </p:nvSpPr>
        <p:spPr>
          <a:xfrm>
            <a:off x="1325880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45235941-5925-B612-EFE8-579662C6E975}"/>
              </a:ext>
            </a:extLst>
          </p:cNvPr>
          <p:cNvSpPr/>
          <p:nvPr/>
        </p:nvSpPr>
        <p:spPr>
          <a:xfrm>
            <a:off x="1655064" y="3401568"/>
            <a:ext cx="310896" cy="310896"/>
          </a:xfrm>
          <a:prstGeom prst="rect">
            <a:avLst/>
          </a:prstGeom>
          <a:solidFill>
            <a:srgbClr val="F0E8FA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2E94301-4EF7-8FDC-EF38-EB5E8A7403BB}"/>
              </a:ext>
            </a:extLst>
          </p:cNvPr>
          <p:cNvSpPr/>
          <p:nvPr/>
        </p:nvSpPr>
        <p:spPr>
          <a:xfrm>
            <a:off x="1655064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610F47D-2A4D-F28E-C9B9-1EACDEEA5F37}"/>
              </a:ext>
            </a:extLst>
          </p:cNvPr>
          <p:cNvSpPr/>
          <p:nvPr/>
        </p:nvSpPr>
        <p:spPr>
          <a:xfrm>
            <a:off x="1984248" y="3401568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A03473F-7269-FB94-0CCB-6A6AB5162639}"/>
              </a:ext>
            </a:extLst>
          </p:cNvPr>
          <p:cNvSpPr/>
          <p:nvPr/>
        </p:nvSpPr>
        <p:spPr>
          <a:xfrm>
            <a:off x="1984248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8C39B69-9E97-0FD5-4302-865D269A4E42}"/>
              </a:ext>
            </a:extLst>
          </p:cNvPr>
          <p:cNvSpPr/>
          <p:nvPr/>
        </p:nvSpPr>
        <p:spPr>
          <a:xfrm>
            <a:off x="2313432" y="3401568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3C67632-C554-6C5C-ABD5-778C09DE70FA}"/>
              </a:ext>
            </a:extLst>
          </p:cNvPr>
          <p:cNvSpPr/>
          <p:nvPr/>
        </p:nvSpPr>
        <p:spPr>
          <a:xfrm>
            <a:off x="2313432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38753A3B-B7C6-FAA0-6985-3F3FA2B57BE7}"/>
              </a:ext>
            </a:extLst>
          </p:cNvPr>
          <p:cNvSpPr/>
          <p:nvPr/>
        </p:nvSpPr>
        <p:spPr>
          <a:xfrm>
            <a:off x="2642616" y="3401568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100A9DE-67B7-5473-1906-BD95A52C4CD1}"/>
              </a:ext>
            </a:extLst>
          </p:cNvPr>
          <p:cNvSpPr/>
          <p:nvPr/>
        </p:nvSpPr>
        <p:spPr>
          <a:xfrm>
            <a:off x="2642616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DE592B72-E1FB-A8C7-7671-0A3A0DABB48F}"/>
              </a:ext>
            </a:extLst>
          </p:cNvPr>
          <p:cNvSpPr/>
          <p:nvPr/>
        </p:nvSpPr>
        <p:spPr>
          <a:xfrm>
            <a:off x="338328" y="3072384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F24AC952-541D-2E96-34E4-FE28AD2EFAC8}"/>
              </a:ext>
            </a:extLst>
          </p:cNvPr>
          <p:cNvSpPr/>
          <p:nvPr/>
        </p:nvSpPr>
        <p:spPr>
          <a:xfrm>
            <a:off x="338328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B8BA3DAE-7A59-E3C2-874B-9D07D7AE076B}"/>
              </a:ext>
            </a:extLst>
          </p:cNvPr>
          <p:cNvSpPr/>
          <p:nvPr/>
        </p:nvSpPr>
        <p:spPr>
          <a:xfrm>
            <a:off x="667512" y="3072384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DBEBB849-36D8-4D11-FF29-326766A0EB69}"/>
              </a:ext>
            </a:extLst>
          </p:cNvPr>
          <p:cNvSpPr/>
          <p:nvPr/>
        </p:nvSpPr>
        <p:spPr>
          <a:xfrm>
            <a:off x="667512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1E7848BF-15E2-1AB0-63E7-868A504D43C4}"/>
              </a:ext>
            </a:extLst>
          </p:cNvPr>
          <p:cNvSpPr/>
          <p:nvPr/>
        </p:nvSpPr>
        <p:spPr>
          <a:xfrm>
            <a:off x="996696" y="3072384"/>
            <a:ext cx="310896" cy="310896"/>
          </a:xfrm>
          <a:prstGeom prst="rect">
            <a:avLst/>
          </a:prstGeom>
          <a:solidFill>
            <a:srgbClr val="F0E8FA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16886998-F819-3588-F370-499969A976EA}"/>
              </a:ext>
            </a:extLst>
          </p:cNvPr>
          <p:cNvSpPr/>
          <p:nvPr/>
        </p:nvSpPr>
        <p:spPr>
          <a:xfrm>
            <a:off x="996696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EF169147-A440-5AA8-C7C6-066CF9746E9B}"/>
              </a:ext>
            </a:extLst>
          </p:cNvPr>
          <p:cNvSpPr/>
          <p:nvPr/>
        </p:nvSpPr>
        <p:spPr>
          <a:xfrm>
            <a:off x="1325880" y="3072384"/>
            <a:ext cx="310896" cy="310896"/>
          </a:xfrm>
          <a:prstGeom prst="rect">
            <a:avLst/>
          </a:prstGeom>
          <a:solidFill>
            <a:srgbClr val="F0E8FA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0385B9A-2923-CEBC-5AD6-933DF54954A5}"/>
              </a:ext>
            </a:extLst>
          </p:cNvPr>
          <p:cNvSpPr/>
          <p:nvPr/>
        </p:nvSpPr>
        <p:spPr>
          <a:xfrm>
            <a:off x="1325880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904CE1E6-AA36-AAC5-D25A-15AC57D198D8}"/>
              </a:ext>
            </a:extLst>
          </p:cNvPr>
          <p:cNvSpPr/>
          <p:nvPr/>
        </p:nvSpPr>
        <p:spPr>
          <a:xfrm>
            <a:off x="1655064" y="3072384"/>
            <a:ext cx="310896" cy="310896"/>
          </a:xfrm>
          <a:prstGeom prst="rect">
            <a:avLst/>
          </a:prstGeom>
          <a:solidFill>
            <a:srgbClr val="F0E8FA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2E679163-C4DD-AF08-D225-8017CE8BEA8C}"/>
              </a:ext>
            </a:extLst>
          </p:cNvPr>
          <p:cNvSpPr/>
          <p:nvPr/>
        </p:nvSpPr>
        <p:spPr>
          <a:xfrm>
            <a:off x="1655064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16754FFF-DAFE-3782-141F-B4789094C26D}"/>
              </a:ext>
            </a:extLst>
          </p:cNvPr>
          <p:cNvSpPr/>
          <p:nvPr/>
        </p:nvSpPr>
        <p:spPr>
          <a:xfrm>
            <a:off x="1984248" y="3072384"/>
            <a:ext cx="310896" cy="310896"/>
          </a:xfrm>
          <a:prstGeom prst="rect">
            <a:avLst/>
          </a:prstGeom>
          <a:solidFill>
            <a:srgbClr val="F0E8FA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94DE6CA0-4A65-3851-71AB-8E91E85691FE}"/>
              </a:ext>
            </a:extLst>
          </p:cNvPr>
          <p:cNvSpPr/>
          <p:nvPr/>
        </p:nvSpPr>
        <p:spPr>
          <a:xfrm>
            <a:off x="1984248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31995FC9-FAAB-0370-FA89-47A52B830732}"/>
              </a:ext>
            </a:extLst>
          </p:cNvPr>
          <p:cNvSpPr/>
          <p:nvPr/>
        </p:nvSpPr>
        <p:spPr>
          <a:xfrm>
            <a:off x="2313432" y="3072384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6BD52482-61D1-05E3-B7DB-88BBAEFB58AA}"/>
              </a:ext>
            </a:extLst>
          </p:cNvPr>
          <p:cNvSpPr/>
          <p:nvPr/>
        </p:nvSpPr>
        <p:spPr>
          <a:xfrm>
            <a:off x="2313432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A6FAE911-E8CD-92E1-2565-179B949F5670}"/>
              </a:ext>
            </a:extLst>
          </p:cNvPr>
          <p:cNvSpPr/>
          <p:nvPr/>
        </p:nvSpPr>
        <p:spPr>
          <a:xfrm>
            <a:off x="2642616" y="3072384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0877DE2F-6346-5F6A-F979-6FF29D320E3D}"/>
              </a:ext>
            </a:extLst>
          </p:cNvPr>
          <p:cNvSpPr/>
          <p:nvPr/>
        </p:nvSpPr>
        <p:spPr>
          <a:xfrm>
            <a:off x="2642616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AF3A3633-2FF1-C288-D1A8-9B5A93EF64B8}"/>
              </a:ext>
            </a:extLst>
          </p:cNvPr>
          <p:cNvSpPr/>
          <p:nvPr/>
        </p:nvSpPr>
        <p:spPr>
          <a:xfrm>
            <a:off x="338328" y="2743200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51BCB901-D800-8777-82FB-7DD5D6B3BF3C}"/>
              </a:ext>
            </a:extLst>
          </p:cNvPr>
          <p:cNvSpPr/>
          <p:nvPr/>
        </p:nvSpPr>
        <p:spPr>
          <a:xfrm>
            <a:off x="338328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C657AD63-FAB2-EC7E-3781-74244093A0A2}"/>
              </a:ext>
            </a:extLst>
          </p:cNvPr>
          <p:cNvSpPr/>
          <p:nvPr/>
        </p:nvSpPr>
        <p:spPr>
          <a:xfrm>
            <a:off x="667512" y="2743200"/>
            <a:ext cx="310896" cy="310896"/>
          </a:xfrm>
          <a:prstGeom prst="rect">
            <a:avLst/>
          </a:prstGeom>
          <a:solidFill>
            <a:srgbClr val="F0E8FA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5DA4312E-F57C-DCBE-79CE-337A19DE25F9}"/>
              </a:ext>
            </a:extLst>
          </p:cNvPr>
          <p:cNvSpPr/>
          <p:nvPr/>
        </p:nvSpPr>
        <p:spPr>
          <a:xfrm>
            <a:off x="667512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3F7695D2-FC91-4E7F-F919-51C1430B3515}"/>
              </a:ext>
            </a:extLst>
          </p:cNvPr>
          <p:cNvSpPr/>
          <p:nvPr/>
        </p:nvSpPr>
        <p:spPr>
          <a:xfrm>
            <a:off x="996696" y="2743200"/>
            <a:ext cx="310896" cy="310896"/>
          </a:xfrm>
          <a:prstGeom prst="rect">
            <a:avLst/>
          </a:prstGeom>
          <a:solidFill>
            <a:srgbClr val="EDE5F7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9ED1158E-A6C8-5E27-F45C-E28723152A24}"/>
              </a:ext>
            </a:extLst>
          </p:cNvPr>
          <p:cNvSpPr/>
          <p:nvPr/>
        </p:nvSpPr>
        <p:spPr>
          <a:xfrm>
            <a:off x="996696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12AE00B8-B539-6C69-A77D-16B503E5274A}"/>
              </a:ext>
            </a:extLst>
          </p:cNvPr>
          <p:cNvSpPr/>
          <p:nvPr/>
        </p:nvSpPr>
        <p:spPr>
          <a:xfrm>
            <a:off x="1325880" y="2743200"/>
            <a:ext cx="310896" cy="3108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A94D49F8-3F5D-55A4-68C2-C83A7303BDC3}"/>
              </a:ext>
            </a:extLst>
          </p:cNvPr>
          <p:cNvSpPr/>
          <p:nvPr/>
        </p:nvSpPr>
        <p:spPr>
          <a:xfrm>
            <a:off x="1325880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00" dirty="0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A5387A0A-DC02-5193-721D-896A443F6849}"/>
              </a:ext>
            </a:extLst>
          </p:cNvPr>
          <p:cNvSpPr/>
          <p:nvPr/>
        </p:nvSpPr>
        <p:spPr>
          <a:xfrm>
            <a:off x="1655064" y="2743200"/>
            <a:ext cx="310896" cy="3108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7A3FEA21-18FF-AA64-00AF-E2644C6C821A}"/>
              </a:ext>
            </a:extLst>
          </p:cNvPr>
          <p:cNvSpPr/>
          <p:nvPr/>
        </p:nvSpPr>
        <p:spPr>
          <a:xfrm>
            <a:off x="1655064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00" dirty="0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0CAF801E-BBAC-0AD8-0BB4-39B23613DD10}"/>
              </a:ext>
            </a:extLst>
          </p:cNvPr>
          <p:cNvSpPr/>
          <p:nvPr/>
        </p:nvSpPr>
        <p:spPr>
          <a:xfrm>
            <a:off x="1984248" y="2743200"/>
            <a:ext cx="310896" cy="310896"/>
          </a:xfrm>
          <a:prstGeom prst="rect">
            <a:avLst/>
          </a:prstGeom>
          <a:solidFill>
            <a:srgbClr val="F0E8FA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0C31CD85-3F30-F8AB-FB1A-CE8E88A0D485}"/>
              </a:ext>
            </a:extLst>
          </p:cNvPr>
          <p:cNvSpPr/>
          <p:nvPr/>
        </p:nvSpPr>
        <p:spPr>
          <a:xfrm>
            <a:off x="1984248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46F3A1D5-A23D-8439-E875-38FEC45A5F1F}"/>
              </a:ext>
            </a:extLst>
          </p:cNvPr>
          <p:cNvSpPr/>
          <p:nvPr/>
        </p:nvSpPr>
        <p:spPr>
          <a:xfrm>
            <a:off x="2313432" y="2743200"/>
            <a:ext cx="310896" cy="310896"/>
          </a:xfrm>
          <a:prstGeom prst="rect">
            <a:avLst/>
          </a:prstGeom>
          <a:solidFill>
            <a:srgbClr val="F0E8FA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8720FA67-4106-7A2F-C067-FE34B5162850}"/>
              </a:ext>
            </a:extLst>
          </p:cNvPr>
          <p:cNvSpPr/>
          <p:nvPr/>
        </p:nvSpPr>
        <p:spPr>
          <a:xfrm>
            <a:off x="2313432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D3B7E88B-A429-06AB-B37A-392A4A3848C0}"/>
              </a:ext>
            </a:extLst>
          </p:cNvPr>
          <p:cNvSpPr/>
          <p:nvPr/>
        </p:nvSpPr>
        <p:spPr>
          <a:xfrm>
            <a:off x="2642616" y="2743200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9A07F1D9-47A7-54B5-6087-3925F01AAE15}"/>
              </a:ext>
            </a:extLst>
          </p:cNvPr>
          <p:cNvSpPr/>
          <p:nvPr/>
        </p:nvSpPr>
        <p:spPr>
          <a:xfrm>
            <a:off x="2642616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0CCFD040-F3E8-E791-32FD-771C5C22D74F}"/>
              </a:ext>
            </a:extLst>
          </p:cNvPr>
          <p:cNvSpPr/>
          <p:nvPr/>
        </p:nvSpPr>
        <p:spPr>
          <a:xfrm>
            <a:off x="338328" y="2414016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F02D22C3-BC62-F0B7-0996-BC4AEA274188}"/>
              </a:ext>
            </a:extLst>
          </p:cNvPr>
          <p:cNvSpPr/>
          <p:nvPr/>
        </p:nvSpPr>
        <p:spPr>
          <a:xfrm>
            <a:off x="338328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3C182164-D6EC-AA2D-0BEB-5C1867070C2D}"/>
              </a:ext>
            </a:extLst>
          </p:cNvPr>
          <p:cNvSpPr/>
          <p:nvPr/>
        </p:nvSpPr>
        <p:spPr>
          <a:xfrm>
            <a:off x="667512" y="2414016"/>
            <a:ext cx="310896" cy="310896"/>
          </a:xfrm>
          <a:prstGeom prst="rect">
            <a:avLst/>
          </a:prstGeom>
          <a:solidFill>
            <a:srgbClr val="EDE5F7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EEC32D4F-5742-9A81-AB21-93CA8DA28E94}"/>
              </a:ext>
            </a:extLst>
          </p:cNvPr>
          <p:cNvSpPr/>
          <p:nvPr/>
        </p:nvSpPr>
        <p:spPr>
          <a:xfrm>
            <a:off x="667512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F00C9194-4913-77C1-6A16-2BD26B03BB25}"/>
              </a:ext>
            </a:extLst>
          </p:cNvPr>
          <p:cNvSpPr/>
          <p:nvPr/>
        </p:nvSpPr>
        <p:spPr>
          <a:xfrm>
            <a:off x="996696" y="2414016"/>
            <a:ext cx="310896" cy="310896"/>
          </a:xfrm>
          <a:prstGeom prst="rect">
            <a:avLst/>
          </a:prstGeom>
          <a:solidFill>
            <a:srgbClr val="F0E8FA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785F5519-18E6-EED0-397D-2747B80BD191}"/>
              </a:ext>
            </a:extLst>
          </p:cNvPr>
          <p:cNvSpPr/>
          <p:nvPr/>
        </p:nvSpPr>
        <p:spPr>
          <a:xfrm>
            <a:off x="996696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FD4286BC-1092-979E-846B-F8461DD47D61}"/>
              </a:ext>
            </a:extLst>
          </p:cNvPr>
          <p:cNvSpPr/>
          <p:nvPr/>
        </p:nvSpPr>
        <p:spPr>
          <a:xfrm>
            <a:off x="1325880" y="2414016"/>
            <a:ext cx="310896" cy="3108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80264BEF-E8C2-CE38-1CAF-804327609986}"/>
              </a:ext>
            </a:extLst>
          </p:cNvPr>
          <p:cNvSpPr/>
          <p:nvPr/>
        </p:nvSpPr>
        <p:spPr>
          <a:xfrm>
            <a:off x="1325880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00" dirty="0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62CC4D31-5081-DAB5-8230-D156382B3C09}"/>
              </a:ext>
            </a:extLst>
          </p:cNvPr>
          <p:cNvSpPr/>
          <p:nvPr/>
        </p:nvSpPr>
        <p:spPr>
          <a:xfrm>
            <a:off x="1655064" y="2414016"/>
            <a:ext cx="310896" cy="3108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A09FBB4E-0AB5-F072-8B55-AAB04FA6EFAC}"/>
              </a:ext>
            </a:extLst>
          </p:cNvPr>
          <p:cNvSpPr/>
          <p:nvPr/>
        </p:nvSpPr>
        <p:spPr>
          <a:xfrm>
            <a:off x="1655064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800" dirty="0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D39682B8-563D-D88C-0376-7869B0A432E6}"/>
              </a:ext>
            </a:extLst>
          </p:cNvPr>
          <p:cNvSpPr/>
          <p:nvPr/>
        </p:nvSpPr>
        <p:spPr>
          <a:xfrm>
            <a:off x="1984248" y="2414016"/>
            <a:ext cx="310896" cy="310896"/>
          </a:xfrm>
          <a:prstGeom prst="rect">
            <a:avLst/>
          </a:prstGeom>
          <a:solidFill>
            <a:srgbClr val="F0E8FA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8A9ACF2D-2F3D-2FD8-8815-E0C598D27886}"/>
              </a:ext>
            </a:extLst>
          </p:cNvPr>
          <p:cNvSpPr/>
          <p:nvPr/>
        </p:nvSpPr>
        <p:spPr>
          <a:xfrm>
            <a:off x="1984248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6EA52E2C-6566-78A7-2883-11D2AF475072}"/>
              </a:ext>
            </a:extLst>
          </p:cNvPr>
          <p:cNvSpPr/>
          <p:nvPr/>
        </p:nvSpPr>
        <p:spPr>
          <a:xfrm>
            <a:off x="2313432" y="2414016"/>
            <a:ext cx="310896" cy="310896"/>
          </a:xfrm>
          <a:prstGeom prst="rect">
            <a:avLst/>
          </a:prstGeom>
          <a:solidFill>
            <a:srgbClr val="F0E8FA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A5DE5A71-EB2B-646E-70B5-819D7682570B}"/>
              </a:ext>
            </a:extLst>
          </p:cNvPr>
          <p:cNvSpPr/>
          <p:nvPr/>
        </p:nvSpPr>
        <p:spPr>
          <a:xfrm>
            <a:off x="2313432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5D724EDB-B8ED-7D90-E431-79A7976A32F4}"/>
              </a:ext>
            </a:extLst>
          </p:cNvPr>
          <p:cNvSpPr/>
          <p:nvPr/>
        </p:nvSpPr>
        <p:spPr>
          <a:xfrm>
            <a:off x="2642616" y="2414016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CDEBD3C9-5E95-6251-9193-BC68BBA3C7E6}"/>
              </a:ext>
            </a:extLst>
          </p:cNvPr>
          <p:cNvSpPr/>
          <p:nvPr/>
        </p:nvSpPr>
        <p:spPr>
          <a:xfrm>
            <a:off x="2642616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936624A9-500C-A6A8-0B6C-F306C9547998}"/>
              </a:ext>
            </a:extLst>
          </p:cNvPr>
          <p:cNvSpPr/>
          <p:nvPr/>
        </p:nvSpPr>
        <p:spPr>
          <a:xfrm>
            <a:off x="338328" y="2084832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D50599FC-2012-8CFF-09AF-2B6C93D8F410}"/>
              </a:ext>
            </a:extLst>
          </p:cNvPr>
          <p:cNvSpPr/>
          <p:nvPr/>
        </p:nvSpPr>
        <p:spPr>
          <a:xfrm>
            <a:off x="338328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791C3669-A32F-B5F2-68D9-D313B6EF2CFD}"/>
              </a:ext>
            </a:extLst>
          </p:cNvPr>
          <p:cNvSpPr/>
          <p:nvPr/>
        </p:nvSpPr>
        <p:spPr>
          <a:xfrm>
            <a:off x="667512" y="2084832"/>
            <a:ext cx="310896" cy="310896"/>
          </a:xfrm>
          <a:prstGeom prst="rect">
            <a:avLst/>
          </a:prstGeom>
          <a:solidFill>
            <a:srgbClr val="EDE5F7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65821EC7-3EE1-1C0C-1E6E-958F4A18F636}"/>
              </a:ext>
            </a:extLst>
          </p:cNvPr>
          <p:cNvSpPr/>
          <p:nvPr/>
        </p:nvSpPr>
        <p:spPr>
          <a:xfrm>
            <a:off x="667512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FF6B5FC7-9993-16A2-1A46-88AC0A7D9401}"/>
              </a:ext>
            </a:extLst>
          </p:cNvPr>
          <p:cNvSpPr/>
          <p:nvPr/>
        </p:nvSpPr>
        <p:spPr>
          <a:xfrm>
            <a:off x="996696" y="2084832"/>
            <a:ext cx="310896" cy="310896"/>
          </a:xfrm>
          <a:prstGeom prst="rect">
            <a:avLst/>
          </a:prstGeom>
          <a:solidFill>
            <a:srgbClr val="F0E8FA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7D911F4E-F982-6D4A-4DD5-857CB268AC9B}"/>
              </a:ext>
            </a:extLst>
          </p:cNvPr>
          <p:cNvSpPr/>
          <p:nvPr/>
        </p:nvSpPr>
        <p:spPr>
          <a:xfrm>
            <a:off x="996696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EF0E7A04-A936-D77E-792C-FA7966E7CEB5}"/>
              </a:ext>
            </a:extLst>
          </p:cNvPr>
          <p:cNvSpPr/>
          <p:nvPr/>
        </p:nvSpPr>
        <p:spPr>
          <a:xfrm>
            <a:off x="1325880" y="2084832"/>
            <a:ext cx="310896" cy="310896"/>
          </a:xfrm>
          <a:prstGeom prst="rect">
            <a:avLst/>
          </a:prstGeom>
          <a:solidFill>
            <a:srgbClr val="F0E8FA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88020E8A-8FB4-7DEB-E8ED-66E6822E109D}"/>
              </a:ext>
            </a:extLst>
          </p:cNvPr>
          <p:cNvSpPr/>
          <p:nvPr/>
        </p:nvSpPr>
        <p:spPr>
          <a:xfrm>
            <a:off x="1325880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0CD46F82-A8F1-50C5-AF4D-B14D9D8D5F7D}"/>
              </a:ext>
            </a:extLst>
          </p:cNvPr>
          <p:cNvSpPr/>
          <p:nvPr/>
        </p:nvSpPr>
        <p:spPr>
          <a:xfrm>
            <a:off x="1655064" y="2084832"/>
            <a:ext cx="310896" cy="310896"/>
          </a:xfrm>
          <a:prstGeom prst="rect">
            <a:avLst/>
          </a:prstGeom>
          <a:solidFill>
            <a:srgbClr val="F0E8FA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96" name="Text 94">
            <a:extLst>
              <a:ext uri="{FF2B5EF4-FFF2-40B4-BE49-F238E27FC236}">
                <a16:creationId xmlns:a16="http://schemas.microsoft.com/office/drawing/2014/main" id="{CADF9931-8809-092E-C870-3231520EAF7D}"/>
              </a:ext>
            </a:extLst>
          </p:cNvPr>
          <p:cNvSpPr/>
          <p:nvPr/>
        </p:nvSpPr>
        <p:spPr>
          <a:xfrm>
            <a:off x="1655064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F58380AF-8125-45AE-123C-30B565DA2D9D}"/>
              </a:ext>
            </a:extLst>
          </p:cNvPr>
          <p:cNvSpPr/>
          <p:nvPr/>
        </p:nvSpPr>
        <p:spPr>
          <a:xfrm>
            <a:off x="1984248" y="2084832"/>
            <a:ext cx="310896" cy="310896"/>
          </a:xfrm>
          <a:prstGeom prst="rect">
            <a:avLst/>
          </a:prstGeom>
          <a:solidFill>
            <a:srgbClr val="F0E8FA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98" name="Text 96">
            <a:extLst>
              <a:ext uri="{FF2B5EF4-FFF2-40B4-BE49-F238E27FC236}">
                <a16:creationId xmlns:a16="http://schemas.microsoft.com/office/drawing/2014/main" id="{DD6F9F97-C34F-1354-6ABD-89A1B27FD715}"/>
              </a:ext>
            </a:extLst>
          </p:cNvPr>
          <p:cNvSpPr/>
          <p:nvPr/>
        </p:nvSpPr>
        <p:spPr>
          <a:xfrm>
            <a:off x="1984248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99" name="Shape 97">
            <a:extLst>
              <a:ext uri="{FF2B5EF4-FFF2-40B4-BE49-F238E27FC236}">
                <a16:creationId xmlns:a16="http://schemas.microsoft.com/office/drawing/2014/main" id="{9432C7B1-644A-9CB8-9DE6-1E47185518D6}"/>
              </a:ext>
            </a:extLst>
          </p:cNvPr>
          <p:cNvSpPr/>
          <p:nvPr/>
        </p:nvSpPr>
        <p:spPr>
          <a:xfrm>
            <a:off x="2313432" y="2084832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100" name="Text 98">
            <a:extLst>
              <a:ext uri="{FF2B5EF4-FFF2-40B4-BE49-F238E27FC236}">
                <a16:creationId xmlns:a16="http://schemas.microsoft.com/office/drawing/2014/main" id="{0DE1818D-09EB-2952-3873-4254964EAE3E}"/>
              </a:ext>
            </a:extLst>
          </p:cNvPr>
          <p:cNvSpPr/>
          <p:nvPr/>
        </p:nvSpPr>
        <p:spPr>
          <a:xfrm>
            <a:off x="2313432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01" name="Shape 99">
            <a:extLst>
              <a:ext uri="{FF2B5EF4-FFF2-40B4-BE49-F238E27FC236}">
                <a16:creationId xmlns:a16="http://schemas.microsoft.com/office/drawing/2014/main" id="{E78A6678-148C-1230-DD75-BED579CBCA76}"/>
              </a:ext>
            </a:extLst>
          </p:cNvPr>
          <p:cNvSpPr/>
          <p:nvPr/>
        </p:nvSpPr>
        <p:spPr>
          <a:xfrm>
            <a:off x="2642616" y="2084832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102" name="Text 100">
            <a:extLst>
              <a:ext uri="{FF2B5EF4-FFF2-40B4-BE49-F238E27FC236}">
                <a16:creationId xmlns:a16="http://schemas.microsoft.com/office/drawing/2014/main" id="{4A7030B8-EB89-60DE-70D1-9C8F0C5E082F}"/>
              </a:ext>
            </a:extLst>
          </p:cNvPr>
          <p:cNvSpPr/>
          <p:nvPr/>
        </p:nvSpPr>
        <p:spPr>
          <a:xfrm>
            <a:off x="2642616" y="2084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03" name="Shape 101">
            <a:extLst>
              <a:ext uri="{FF2B5EF4-FFF2-40B4-BE49-F238E27FC236}">
                <a16:creationId xmlns:a16="http://schemas.microsoft.com/office/drawing/2014/main" id="{AB6E8EAD-AC6E-632C-42A2-F73D288A3818}"/>
              </a:ext>
            </a:extLst>
          </p:cNvPr>
          <p:cNvSpPr/>
          <p:nvPr/>
        </p:nvSpPr>
        <p:spPr>
          <a:xfrm>
            <a:off x="338328" y="1755648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104" name="Text 102">
            <a:extLst>
              <a:ext uri="{FF2B5EF4-FFF2-40B4-BE49-F238E27FC236}">
                <a16:creationId xmlns:a16="http://schemas.microsoft.com/office/drawing/2014/main" id="{941EDFB3-FBC0-99F9-B51B-5701735CA783}"/>
              </a:ext>
            </a:extLst>
          </p:cNvPr>
          <p:cNvSpPr/>
          <p:nvPr/>
        </p:nvSpPr>
        <p:spPr>
          <a:xfrm>
            <a:off x="338328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05" name="Shape 103">
            <a:extLst>
              <a:ext uri="{FF2B5EF4-FFF2-40B4-BE49-F238E27FC236}">
                <a16:creationId xmlns:a16="http://schemas.microsoft.com/office/drawing/2014/main" id="{A6B057A0-4AE8-0A12-3A75-198875DECBD5}"/>
              </a:ext>
            </a:extLst>
          </p:cNvPr>
          <p:cNvSpPr/>
          <p:nvPr/>
        </p:nvSpPr>
        <p:spPr>
          <a:xfrm>
            <a:off x="667512" y="1755648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106" name="Text 104">
            <a:extLst>
              <a:ext uri="{FF2B5EF4-FFF2-40B4-BE49-F238E27FC236}">
                <a16:creationId xmlns:a16="http://schemas.microsoft.com/office/drawing/2014/main" id="{5CED8503-81EC-C695-0A90-C94688B9C75B}"/>
              </a:ext>
            </a:extLst>
          </p:cNvPr>
          <p:cNvSpPr/>
          <p:nvPr/>
        </p:nvSpPr>
        <p:spPr>
          <a:xfrm>
            <a:off x="667512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07" name="Shape 105">
            <a:extLst>
              <a:ext uri="{FF2B5EF4-FFF2-40B4-BE49-F238E27FC236}">
                <a16:creationId xmlns:a16="http://schemas.microsoft.com/office/drawing/2014/main" id="{62B0D356-B821-2710-5335-5462D4CA91FB}"/>
              </a:ext>
            </a:extLst>
          </p:cNvPr>
          <p:cNvSpPr/>
          <p:nvPr/>
        </p:nvSpPr>
        <p:spPr>
          <a:xfrm>
            <a:off x="996696" y="1755648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108" name="Text 106">
            <a:extLst>
              <a:ext uri="{FF2B5EF4-FFF2-40B4-BE49-F238E27FC236}">
                <a16:creationId xmlns:a16="http://schemas.microsoft.com/office/drawing/2014/main" id="{A76FC60D-964D-D0B0-2E77-9BB346C085E7}"/>
              </a:ext>
            </a:extLst>
          </p:cNvPr>
          <p:cNvSpPr/>
          <p:nvPr/>
        </p:nvSpPr>
        <p:spPr>
          <a:xfrm>
            <a:off x="996696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09" name="Shape 107">
            <a:extLst>
              <a:ext uri="{FF2B5EF4-FFF2-40B4-BE49-F238E27FC236}">
                <a16:creationId xmlns:a16="http://schemas.microsoft.com/office/drawing/2014/main" id="{C388CEF5-6AA9-9E48-8046-E8255CA532B3}"/>
              </a:ext>
            </a:extLst>
          </p:cNvPr>
          <p:cNvSpPr/>
          <p:nvPr/>
        </p:nvSpPr>
        <p:spPr>
          <a:xfrm>
            <a:off x="1325880" y="1755648"/>
            <a:ext cx="310896" cy="310896"/>
          </a:xfrm>
          <a:prstGeom prst="rect">
            <a:avLst/>
          </a:prstGeom>
          <a:solidFill>
            <a:srgbClr val="F0E8FA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110" name="Text 108">
            <a:extLst>
              <a:ext uri="{FF2B5EF4-FFF2-40B4-BE49-F238E27FC236}">
                <a16:creationId xmlns:a16="http://schemas.microsoft.com/office/drawing/2014/main" id="{C3E681AA-E6E1-2741-F743-FA2DB68B865A}"/>
              </a:ext>
            </a:extLst>
          </p:cNvPr>
          <p:cNvSpPr/>
          <p:nvPr/>
        </p:nvSpPr>
        <p:spPr>
          <a:xfrm>
            <a:off x="1325880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11" name="Shape 109">
            <a:extLst>
              <a:ext uri="{FF2B5EF4-FFF2-40B4-BE49-F238E27FC236}">
                <a16:creationId xmlns:a16="http://schemas.microsoft.com/office/drawing/2014/main" id="{4761DC0C-2389-338C-9577-62587589A769}"/>
              </a:ext>
            </a:extLst>
          </p:cNvPr>
          <p:cNvSpPr/>
          <p:nvPr/>
        </p:nvSpPr>
        <p:spPr>
          <a:xfrm>
            <a:off x="1655064" y="1755648"/>
            <a:ext cx="310896" cy="310896"/>
          </a:xfrm>
          <a:prstGeom prst="rect">
            <a:avLst/>
          </a:prstGeom>
          <a:solidFill>
            <a:srgbClr val="F0E8FA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112" name="Text 110">
            <a:extLst>
              <a:ext uri="{FF2B5EF4-FFF2-40B4-BE49-F238E27FC236}">
                <a16:creationId xmlns:a16="http://schemas.microsoft.com/office/drawing/2014/main" id="{EDE4D3FC-B8EF-548E-B530-A66650BFAC4E}"/>
              </a:ext>
            </a:extLst>
          </p:cNvPr>
          <p:cNvSpPr/>
          <p:nvPr/>
        </p:nvSpPr>
        <p:spPr>
          <a:xfrm>
            <a:off x="1655064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13" name="Shape 111">
            <a:extLst>
              <a:ext uri="{FF2B5EF4-FFF2-40B4-BE49-F238E27FC236}">
                <a16:creationId xmlns:a16="http://schemas.microsoft.com/office/drawing/2014/main" id="{FF752A11-8E8D-A03F-4A2D-9F910EAC94D6}"/>
              </a:ext>
            </a:extLst>
          </p:cNvPr>
          <p:cNvSpPr/>
          <p:nvPr/>
        </p:nvSpPr>
        <p:spPr>
          <a:xfrm>
            <a:off x="1984248" y="1755648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114" name="Text 112">
            <a:extLst>
              <a:ext uri="{FF2B5EF4-FFF2-40B4-BE49-F238E27FC236}">
                <a16:creationId xmlns:a16="http://schemas.microsoft.com/office/drawing/2014/main" id="{673AA306-89C6-57B1-73A6-831FBC2F95AF}"/>
              </a:ext>
            </a:extLst>
          </p:cNvPr>
          <p:cNvSpPr/>
          <p:nvPr/>
        </p:nvSpPr>
        <p:spPr>
          <a:xfrm>
            <a:off x="1984248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15" name="Shape 113">
            <a:extLst>
              <a:ext uri="{FF2B5EF4-FFF2-40B4-BE49-F238E27FC236}">
                <a16:creationId xmlns:a16="http://schemas.microsoft.com/office/drawing/2014/main" id="{F12E3103-8609-1B11-9B6C-68C0E694660E}"/>
              </a:ext>
            </a:extLst>
          </p:cNvPr>
          <p:cNvSpPr/>
          <p:nvPr/>
        </p:nvSpPr>
        <p:spPr>
          <a:xfrm>
            <a:off x="2313432" y="1755648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116" name="Text 114">
            <a:extLst>
              <a:ext uri="{FF2B5EF4-FFF2-40B4-BE49-F238E27FC236}">
                <a16:creationId xmlns:a16="http://schemas.microsoft.com/office/drawing/2014/main" id="{61F97A5A-CF13-A781-AAF2-17EA939E1082}"/>
              </a:ext>
            </a:extLst>
          </p:cNvPr>
          <p:cNvSpPr/>
          <p:nvPr/>
        </p:nvSpPr>
        <p:spPr>
          <a:xfrm>
            <a:off x="2313432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17" name="Shape 115">
            <a:extLst>
              <a:ext uri="{FF2B5EF4-FFF2-40B4-BE49-F238E27FC236}">
                <a16:creationId xmlns:a16="http://schemas.microsoft.com/office/drawing/2014/main" id="{577326F4-2572-C625-8562-D2862B90FF35}"/>
              </a:ext>
            </a:extLst>
          </p:cNvPr>
          <p:cNvSpPr/>
          <p:nvPr/>
        </p:nvSpPr>
        <p:spPr>
          <a:xfrm>
            <a:off x="2642616" y="1755648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118" name="Text 116">
            <a:extLst>
              <a:ext uri="{FF2B5EF4-FFF2-40B4-BE49-F238E27FC236}">
                <a16:creationId xmlns:a16="http://schemas.microsoft.com/office/drawing/2014/main" id="{BCE2BECE-EC0C-C558-D7CD-E417A676ADE7}"/>
              </a:ext>
            </a:extLst>
          </p:cNvPr>
          <p:cNvSpPr/>
          <p:nvPr/>
        </p:nvSpPr>
        <p:spPr>
          <a:xfrm>
            <a:off x="2642616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19" name="Shape 117">
            <a:extLst>
              <a:ext uri="{FF2B5EF4-FFF2-40B4-BE49-F238E27FC236}">
                <a16:creationId xmlns:a16="http://schemas.microsoft.com/office/drawing/2014/main" id="{EF80E640-256C-9575-14BC-381CF8865B77}"/>
              </a:ext>
            </a:extLst>
          </p:cNvPr>
          <p:cNvSpPr/>
          <p:nvPr/>
        </p:nvSpPr>
        <p:spPr>
          <a:xfrm>
            <a:off x="338328" y="1426464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120" name="Text 118">
            <a:extLst>
              <a:ext uri="{FF2B5EF4-FFF2-40B4-BE49-F238E27FC236}">
                <a16:creationId xmlns:a16="http://schemas.microsoft.com/office/drawing/2014/main" id="{9059B076-8FBC-B449-35DD-2D4C203CB87B}"/>
              </a:ext>
            </a:extLst>
          </p:cNvPr>
          <p:cNvSpPr/>
          <p:nvPr/>
        </p:nvSpPr>
        <p:spPr>
          <a:xfrm>
            <a:off x="338328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121" name="Shape 119">
            <a:extLst>
              <a:ext uri="{FF2B5EF4-FFF2-40B4-BE49-F238E27FC236}">
                <a16:creationId xmlns:a16="http://schemas.microsoft.com/office/drawing/2014/main" id="{A82D7AE8-A3FF-9AB3-4DB9-948ADACC363D}"/>
              </a:ext>
            </a:extLst>
          </p:cNvPr>
          <p:cNvSpPr/>
          <p:nvPr/>
        </p:nvSpPr>
        <p:spPr>
          <a:xfrm>
            <a:off x="667512" y="1426464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122" name="Text 120">
            <a:extLst>
              <a:ext uri="{FF2B5EF4-FFF2-40B4-BE49-F238E27FC236}">
                <a16:creationId xmlns:a16="http://schemas.microsoft.com/office/drawing/2014/main" id="{DA18237D-085B-FD30-7B7D-D00F3EFC6D93}"/>
              </a:ext>
            </a:extLst>
          </p:cNvPr>
          <p:cNvSpPr/>
          <p:nvPr/>
        </p:nvSpPr>
        <p:spPr>
          <a:xfrm>
            <a:off x="667512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23" name="Shape 121">
            <a:extLst>
              <a:ext uri="{FF2B5EF4-FFF2-40B4-BE49-F238E27FC236}">
                <a16:creationId xmlns:a16="http://schemas.microsoft.com/office/drawing/2014/main" id="{BE9DFC52-512B-A73F-81B2-604D2B0A7DFC}"/>
              </a:ext>
            </a:extLst>
          </p:cNvPr>
          <p:cNvSpPr/>
          <p:nvPr/>
        </p:nvSpPr>
        <p:spPr>
          <a:xfrm>
            <a:off x="996696" y="1426464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124" name="Text 122">
            <a:extLst>
              <a:ext uri="{FF2B5EF4-FFF2-40B4-BE49-F238E27FC236}">
                <a16:creationId xmlns:a16="http://schemas.microsoft.com/office/drawing/2014/main" id="{3353CA8B-132F-DCE5-40CE-5469E0FA4F6A}"/>
              </a:ext>
            </a:extLst>
          </p:cNvPr>
          <p:cNvSpPr/>
          <p:nvPr/>
        </p:nvSpPr>
        <p:spPr>
          <a:xfrm>
            <a:off x="996696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25" name="Shape 123">
            <a:extLst>
              <a:ext uri="{FF2B5EF4-FFF2-40B4-BE49-F238E27FC236}">
                <a16:creationId xmlns:a16="http://schemas.microsoft.com/office/drawing/2014/main" id="{E4C02D4F-9B85-FCAB-1D0D-9E5809E60C52}"/>
              </a:ext>
            </a:extLst>
          </p:cNvPr>
          <p:cNvSpPr/>
          <p:nvPr/>
        </p:nvSpPr>
        <p:spPr>
          <a:xfrm>
            <a:off x="1325880" y="1426464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126" name="Text 124">
            <a:extLst>
              <a:ext uri="{FF2B5EF4-FFF2-40B4-BE49-F238E27FC236}">
                <a16:creationId xmlns:a16="http://schemas.microsoft.com/office/drawing/2014/main" id="{70FAF611-5AFE-1011-FCAC-55135F92C1EB}"/>
              </a:ext>
            </a:extLst>
          </p:cNvPr>
          <p:cNvSpPr/>
          <p:nvPr/>
        </p:nvSpPr>
        <p:spPr>
          <a:xfrm>
            <a:off x="1325880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27" name="Shape 125">
            <a:extLst>
              <a:ext uri="{FF2B5EF4-FFF2-40B4-BE49-F238E27FC236}">
                <a16:creationId xmlns:a16="http://schemas.microsoft.com/office/drawing/2014/main" id="{AB3DF971-5E5A-6447-C75E-8F732C38155F}"/>
              </a:ext>
            </a:extLst>
          </p:cNvPr>
          <p:cNvSpPr/>
          <p:nvPr/>
        </p:nvSpPr>
        <p:spPr>
          <a:xfrm>
            <a:off x="1655064" y="1426464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128" name="Text 126">
            <a:extLst>
              <a:ext uri="{FF2B5EF4-FFF2-40B4-BE49-F238E27FC236}">
                <a16:creationId xmlns:a16="http://schemas.microsoft.com/office/drawing/2014/main" id="{3001ABA2-9481-EFC5-9268-C0F7B016021E}"/>
              </a:ext>
            </a:extLst>
          </p:cNvPr>
          <p:cNvSpPr/>
          <p:nvPr/>
        </p:nvSpPr>
        <p:spPr>
          <a:xfrm>
            <a:off x="1655064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29" name="Shape 127">
            <a:extLst>
              <a:ext uri="{FF2B5EF4-FFF2-40B4-BE49-F238E27FC236}">
                <a16:creationId xmlns:a16="http://schemas.microsoft.com/office/drawing/2014/main" id="{233109A9-509A-E7A3-65F2-03CD6C6639A7}"/>
              </a:ext>
            </a:extLst>
          </p:cNvPr>
          <p:cNvSpPr/>
          <p:nvPr/>
        </p:nvSpPr>
        <p:spPr>
          <a:xfrm>
            <a:off x="1984248" y="1426464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130" name="Text 128">
            <a:extLst>
              <a:ext uri="{FF2B5EF4-FFF2-40B4-BE49-F238E27FC236}">
                <a16:creationId xmlns:a16="http://schemas.microsoft.com/office/drawing/2014/main" id="{3517E6C9-C9A6-4C87-933D-B017BB9C892F}"/>
              </a:ext>
            </a:extLst>
          </p:cNvPr>
          <p:cNvSpPr/>
          <p:nvPr/>
        </p:nvSpPr>
        <p:spPr>
          <a:xfrm>
            <a:off x="1984248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31" name="Shape 129">
            <a:extLst>
              <a:ext uri="{FF2B5EF4-FFF2-40B4-BE49-F238E27FC236}">
                <a16:creationId xmlns:a16="http://schemas.microsoft.com/office/drawing/2014/main" id="{FFCCDDA5-058E-9140-EE2C-00EA14EFD3DB}"/>
              </a:ext>
            </a:extLst>
          </p:cNvPr>
          <p:cNvSpPr/>
          <p:nvPr/>
        </p:nvSpPr>
        <p:spPr>
          <a:xfrm>
            <a:off x="2313432" y="1426464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132" name="Text 130">
            <a:extLst>
              <a:ext uri="{FF2B5EF4-FFF2-40B4-BE49-F238E27FC236}">
                <a16:creationId xmlns:a16="http://schemas.microsoft.com/office/drawing/2014/main" id="{F217C2EA-A5E0-7CA0-5686-3A728E922F57}"/>
              </a:ext>
            </a:extLst>
          </p:cNvPr>
          <p:cNvSpPr/>
          <p:nvPr/>
        </p:nvSpPr>
        <p:spPr>
          <a:xfrm>
            <a:off x="2313432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33" name="Shape 131">
            <a:extLst>
              <a:ext uri="{FF2B5EF4-FFF2-40B4-BE49-F238E27FC236}">
                <a16:creationId xmlns:a16="http://schemas.microsoft.com/office/drawing/2014/main" id="{67E26271-B661-B435-C039-9F50F7380201}"/>
              </a:ext>
            </a:extLst>
          </p:cNvPr>
          <p:cNvSpPr/>
          <p:nvPr/>
        </p:nvSpPr>
        <p:spPr>
          <a:xfrm>
            <a:off x="2642616" y="1426464"/>
            <a:ext cx="310896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E8E0F0"/>
            </a:solidFill>
            <a:prstDash val="solid"/>
          </a:ln>
        </p:spPr>
      </p:sp>
      <p:sp>
        <p:nvSpPr>
          <p:cNvPr id="134" name="Text 132">
            <a:extLst>
              <a:ext uri="{FF2B5EF4-FFF2-40B4-BE49-F238E27FC236}">
                <a16:creationId xmlns:a16="http://schemas.microsoft.com/office/drawing/2014/main" id="{1748F0F5-012A-2621-FDCA-FC61470CED2A}"/>
              </a:ext>
            </a:extLst>
          </p:cNvPr>
          <p:cNvSpPr/>
          <p:nvPr/>
        </p:nvSpPr>
        <p:spPr>
          <a:xfrm>
            <a:off x="2642616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135" name="Text 133">
            <a:extLst>
              <a:ext uri="{FF2B5EF4-FFF2-40B4-BE49-F238E27FC236}">
                <a16:creationId xmlns:a16="http://schemas.microsoft.com/office/drawing/2014/main" id="{06ED1716-5316-2837-F38F-764BDD4EA528}"/>
              </a:ext>
            </a:extLst>
          </p:cNvPr>
          <p:cNvSpPr/>
          <p:nvPr/>
        </p:nvSpPr>
        <p:spPr>
          <a:xfrm>
            <a:off x="256032" y="4242816"/>
            <a:ext cx="3090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S=Start(0,0)  G=Goals(3-4,3-4)  GOAL_CELLS[4][2]={{3,3},{3,4},{4,3},{4,4}}</a:t>
            </a:r>
            <a:endParaRPr lang="en-US" sz="800" dirty="0"/>
          </a:p>
        </p:txBody>
      </p:sp>
      <p:sp>
        <p:nvSpPr>
          <p:cNvPr id="136" name="Shape 134">
            <a:extLst>
              <a:ext uri="{FF2B5EF4-FFF2-40B4-BE49-F238E27FC236}">
                <a16:creationId xmlns:a16="http://schemas.microsoft.com/office/drawing/2014/main" id="{535FA363-7642-3B52-7679-85FE2951D8A4}"/>
              </a:ext>
            </a:extLst>
          </p:cNvPr>
          <p:cNvSpPr/>
          <p:nvPr/>
        </p:nvSpPr>
        <p:spPr>
          <a:xfrm>
            <a:off x="3602736" y="724988"/>
            <a:ext cx="2578608" cy="2347395"/>
          </a:xfrm>
          <a:prstGeom prst="rect">
            <a:avLst/>
          </a:prstGeom>
          <a:solidFill>
            <a:srgbClr val="1E1E2E"/>
          </a:solidFill>
          <a:ln w="9525">
            <a:solidFill>
              <a:srgbClr val="2E2E4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7" name="Shape 135">
            <a:extLst>
              <a:ext uri="{FF2B5EF4-FFF2-40B4-BE49-F238E27FC236}">
                <a16:creationId xmlns:a16="http://schemas.microsoft.com/office/drawing/2014/main" id="{6491F856-0E2A-4F2E-108E-9C709F4982C4}"/>
              </a:ext>
            </a:extLst>
          </p:cNvPr>
          <p:cNvSpPr/>
          <p:nvPr/>
        </p:nvSpPr>
        <p:spPr>
          <a:xfrm>
            <a:off x="3602736" y="724989"/>
            <a:ext cx="2578608" cy="219456"/>
          </a:xfrm>
          <a:prstGeom prst="rect">
            <a:avLst/>
          </a:prstGeom>
          <a:solidFill>
            <a:srgbClr val="2E2E4E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138" name="Shape 136">
            <a:extLst>
              <a:ext uri="{FF2B5EF4-FFF2-40B4-BE49-F238E27FC236}">
                <a16:creationId xmlns:a16="http://schemas.microsoft.com/office/drawing/2014/main" id="{EA030CAB-D6F7-E3C6-A5ED-2C33393678A2}"/>
              </a:ext>
            </a:extLst>
          </p:cNvPr>
          <p:cNvSpPr/>
          <p:nvPr/>
        </p:nvSpPr>
        <p:spPr>
          <a:xfrm>
            <a:off x="3666744" y="770709"/>
            <a:ext cx="128016" cy="128016"/>
          </a:xfrm>
          <a:prstGeom prst="ellipse">
            <a:avLst/>
          </a:prstGeom>
          <a:solidFill>
            <a:srgbClr val="E8725A"/>
          </a:solidFill>
          <a:ln w="12700">
            <a:solidFill>
              <a:srgbClr val="E8725A"/>
            </a:solidFill>
            <a:prstDash val="solid"/>
          </a:ln>
        </p:spPr>
      </p:sp>
      <p:sp>
        <p:nvSpPr>
          <p:cNvPr id="139" name="Shape 137">
            <a:extLst>
              <a:ext uri="{FF2B5EF4-FFF2-40B4-BE49-F238E27FC236}">
                <a16:creationId xmlns:a16="http://schemas.microsoft.com/office/drawing/2014/main" id="{8A2A2C59-F165-797A-4AC7-3C07E0064C2C}"/>
              </a:ext>
            </a:extLst>
          </p:cNvPr>
          <p:cNvSpPr/>
          <p:nvPr/>
        </p:nvSpPr>
        <p:spPr>
          <a:xfrm>
            <a:off x="3831336" y="770709"/>
            <a:ext cx="128016" cy="128016"/>
          </a:xfrm>
          <a:prstGeom prst="ellipse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140" name="Shape 138">
            <a:extLst>
              <a:ext uri="{FF2B5EF4-FFF2-40B4-BE49-F238E27FC236}">
                <a16:creationId xmlns:a16="http://schemas.microsoft.com/office/drawing/2014/main" id="{75150F72-9A3D-D884-C7B9-2FF35DF3A2EF}"/>
              </a:ext>
            </a:extLst>
          </p:cNvPr>
          <p:cNvSpPr/>
          <p:nvPr/>
        </p:nvSpPr>
        <p:spPr>
          <a:xfrm>
            <a:off x="3995928" y="770709"/>
            <a:ext cx="128016" cy="128016"/>
          </a:xfrm>
          <a:prstGeom prst="ellipse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41" name="Text 139">
            <a:extLst>
              <a:ext uri="{FF2B5EF4-FFF2-40B4-BE49-F238E27FC236}">
                <a16:creationId xmlns:a16="http://schemas.microsoft.com/office/drawing/2014/main" id="{166DC79C-EF72-A56F-AC30-362FE4350A27}"/>
              </a:ext>
            </a:extLst>
          </p:cNvPr>
          <p:cNvSpPr/>
          <p:nvPr/>
        </p:nvSpPr>
        <p:spPr>
          <a:xfrm>
            <a:off x="3712464" y="999309"/>
            <a:ext cx="2359152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initFlood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for(x=0;x&lt;8;x++) for(y=0;y&lt;8;y++){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d = 9999;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for(i=0;i&lt;4;i++)  // 4 goals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d=min(d,abs(x-gx)+abs(y-gy));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flood[x][y] = d;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Override: goals = 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flood[3][3]=flood[3][4]=0;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flood[4][3]=flood[4][4]=0;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42" name="Shape 140">
            <a:extLst>
              <a:ext uri="{FF2B5EF4-FFF2-40B4-BE49-F238E27FC236}">
                <a16:creationId xmlns:a16="http://schemas.microsoft.com/office/drawing/2014/main" id="{CCEF8EF6-D1E6-28BB-1576-84137956DFF7}"/>
              </a:ext>
            </a:extLst>
          </p:cNvPr>
          <p:cNvSpPr/>
          <p:nvPr/>
        </p:nvSpPr>
        <p:spPr>
          <a:xfrm>
            <a:off x="3602736" y="3119628"/>
            <a:ext cx="2578608" cy="1926554"/>
          </a:xfrm>
          <a:prstGeom prst="rect">
            <a:avLst/>
          </a:prstGeom>
          <a:solidFill>
            <a:srgbClr val="1E1E2E"/>
          </a:solidFill>
          <a:ln w="9525">
            <a:solidFill>
              <a:srgbClr val="2E2E4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3" name="Shape 141">
            <a:extLst>
              <a:ext uri="{FF2B5EF4-FFF2-40B4-BE49-F238E27FC236}">
                <a16:creationId xmlns:a16="http://schemas.microsoft.com/office/drawing/2014/main" id="{3C426C58-ED95-042D-59EC-AD520204E63C}"/>
              </a:ext>
            </a:extLst>
          </p:cNvPr>
          <p:cNvSpPr/>
          <p:nvPr/>
        </p:nvSpPr>
        <p:spPr>
          <a:xfrm>
            <a:off x="3602736" y="3119628"/>
            <a:ext cx="2578608" cy="219456"/>
          </a:xfrm>
          <a:prstGeom prst="rect">
            <a:avLst/>
          </a:prstGeom>
          <a:solidFill>
            <a:srgbClr val="2E2E4E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144" name="Shape 142">
            <a:extLst>
              <a:ext uri="{FF2B5EF4-FFF2-40B4-BE49-F238E27FC236}">
                <a16:creationId xmlns:a16="http://schemas.microsoft.com/office/drawing/2014/main" id="{9C7E4D93-516C-86A4-65DF-96A18CF6DDBD}"/>
              </a:ext>
            </a:extLst>
          </p:cNvPr>
          <p:cNvSpPr/>
          <p:nvPr/>
        </p:nvSpPr>
        <p:spPr>
          <a:xfrm>
            <a:off x="3666744" y="3165348"/>
            <a:ext cx="128016" cy="128016"/>
          </a:xfrm>
          <a:prstGeom prst="ellipse">
            <a:avLst/>
          </a:prstGeom>
          <a:solidFill>
            <a:srgbClr val="E8725A"/>
          </a:solidFill>
          <a:ln w="12700">
            <a:solidFill>
              <a:srgbClr val="E8725A"/>
            </a:solidFill>
            <a:prstDash val="solid"/>
          </a:ln>
        </p:spPr>
      </p:sp>
      <p:sp>
        <p:nvSpPr>
          <p:cNvPr id="145" name="Shape 143">
            <a:extLst>
              <a:ext uri="{FF2B5EF4-FFF2-40B4-BE49-F238E27FC236}">
                <a16:creationId xmlns:a16="http://schemas.microsoft.com/office/drawing/2014/main" id="{E495D290-C232-AEEF-0068-8D320EEBED45}"/>
              </a:ext>
            </a:extLst>
          </p:cNvPr>
          <p:cNvSpPr/>
          <p:nvPr/>
        </p:nvSpPr>
        <p:spPr>
          <a:xfrm>
            <a:off x="3831336" y="3165348"/>
            <a:ext cx="128016" cy="128016"/>
          </a:xfrm>
          <a:prstGeom prst="ellipse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146" name="Shape 144">
            <a:extLst>
              <a:ext uri="{FF2B5EF4-FFF2-40B4-BE49-F238E27FC236}">
                <a16:creationId xmlns:a16="http://schemas.microsoft.com/office/drawing/2014/main" id="{57211970-7DF0-EF0E-A220-ADFA303E609A}"/>
              </a:ext>
            </a:extLst>
          </p:cNvPr>
          <p:cNvSpPr/>
          <p:nvPr/>
        </p:nvSpPr>
        <p:spPr>
          <a:xfrm>
            <a:off x="3995928" y="3165348"/>
            <a:ext cx="128016" cy="128016"/>
          </a:xfrm>
          <a:prstGeom prst="ellipse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47" name="Text 145">
            <a:extLst>
              <a:ext uri="{FF2B5EF4-FFF2-40B4-BE49-F238E27FC236}">
                <a16:creationId xmlns:a16="http://schemas.microsoft.com/office/drawing/2014/main" id="{15315142-EA53-5636-D3BF-8674B4B8E6BC}"/>
              </a:ext>
            </a:extLst>
          </p:cNvPr>
          <p:cNvSpPr/>
          <p:nvPr/>
        </p:nvSpPr>
        <p:spPr>
          <a:xfrm>
            <a:off x="3712464" y="3393948"/>
            <a:ext cx="2359152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floodFill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changed = true;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while(changed)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changed = false;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each cell (x,y):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if(!isConsistent(x,y)){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makeConsistent(x,y);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changed = true;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// repeat until stable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4" name="Shape 152">
            <a:extLst>
              <a:ext uri="{FF2B5EF4-FFF2-40B4-BE49-F238E27FC236}">
                <a16:creationId xmlns:a16="http://schemas.microsoft.com/office/drawing/2014/main" id="{18794165-DEF2-891B-D024-4031F5FCFC4E}"/>
              </a:ext>
            </a:extLst>
          </p:cNvPr>
          <p:cNvSpPr/>
          <p:nvPr/>
        </p:nvSpPr>
        <p:spPr>
          <a:xfrm>
            <a:off x="6327648" y="274320"/>
            <a:ext cx="2633472" cy="3675888"/>
          </a:xfrm>
          <a:prstGeom prst="rect">
            <a:avLst/>
          </a:prstGeom>
          <a:solidFill>
            <a:srgbClr val="1E1E2E"/>
          </a:solidFill>
          <a:ln w="9525">
            <a:solidFill>
              <a:srgbClr val="2E2E4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5" name="Shape 153">
            <a:extLst>
              <a:ext uri="{FF2B5EF4-FFF2-40B4-BE49-F238E27FC236}">
                <a16:creationId xmlns:a16="http://schemas.microsoft.com/office/drawing/2014/main" id="{ED560D18-F622-1917-1C22-C1628B120152}"/>
              </a:ext>
            </a:extLst>
          </p:cNvPr>
          <p:cNvSpPr/>
          <p:nvPr/>
        </p:nvSpPr>
        <p:spPr>
          <a:xfrm>
            <a:off x="6327648" y="274320"/>
            <a:ext cx="2633472" cy="219456"/>
          </a:xfrm>
          <a:prstGeom prst="rect">
            <a:avLst/>
          </a:prstGeom>
          <a:solidFill>
            <a:srgbClr val="2E2E4E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156" name="Shape 154">
            <a:extLst>
              <a:ext uri="{FF2B5EF4-FFF2-40B4-BE49-F238E27FC236}">
                <a16:creationId xmlns:a16="http://schemas.microsoft.com/office/drawing/2014/main" id="{3DB0AA93-529C-3462-E18A-AB91D5734010}"/>
              </a:ext>
            </a:extLst>
          </p:cNvPr>
          <p:cNvSpPr/>
          <p:nvPr/>
        </p:nvSpPr>
        <p:spPr>
          <a:xfrm>
            <a:off x="6391656" y="320040"/>
            <a:ext cx="128016" cy="128016"/>
          </a:xfrm>
          <a:prstGeom prst="ellipse">
            <a:avLst/>
          </a:prstGeom>
          <a:solidFill>
            <a:srgbClr val="E8725A"/>
          </a:solidFill>
          <a:ln w="12700">
            <a:solidFill>
              <a:srgbClr val="E8725A"/>
            </a:solidFill>
            <a:prstDash val="solid"/>
          </a:ln>
        </p:spPr>
      </p:sp>
      <p:sp>
        <p:nvSpPr>
          <p:cNvPr id="157" name="Shape 155">
            <a:extLst>
              <a:ext uri="{FF2B5EF4-FFF2-40B4-BE49-F238E27FC236}">
                <a16:creationId xmlns:a16="http://schemas.microsoft.com/office/drawing/2014/main" id="{823CAFD5-AD96-CBD7-22DB-22DD9A5D1456}"/>
              </a:ext>
            </a:extLst>
          </p:cNvPr>
          <p:cNvSpPr/>
          <p:nvPr/>
        </p:nvSpPr>
        <p:spPr>
          <a:xfrm>
            <a:off x="6556248" y="320040"/>
            <a:ext cx="128016" cy="128016"/>
          </a:xfrm>
          <a:prstGeom prst="ellipse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158" name="Shape 156">
            <a:extLst>
              <a:ext uri="{FF2B5EF4-FFF2-40B4-BE49-F238E27FC236}">
                <a16:creationId xmlns:a16="http://schemas.microsoft.com/office/drawing/2014/main" id="{739A7E94-F71D-92B6-92B0-CA5F398E8935}"/>
              </a:ext>
            </a:extLst>
          </p:cNvPr>
          <p:cNvSpPr/>
          <p:nvPr/>
        </p:nvSpPr>
        <p:spPr>
          <a:xfrm>
            <a:off x="6720840" y="320040"/>
            <a:ext cx="128016" cy="128016"/>
          </a:xfrm>
          <a:prstGeom prst="ellipse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59" name="Text 157">
            <a:extLst>
              <a:ext uri="{FF2B5EF4-FFF2-40B4-BE49-F238E27FC236}">
                <a16:creationId xmlns:a16="http://schemas.microsoft.com/office/drawing/2014/main" id="{C3925A7D-B70B-83D8-D8EB-A03FD915EB5D}"/>
              </a:ext>
            </a:extLst>
          </p:cNvPr>
          <p:cNvSpPr/>
          <p:nvPr/>
        </p:nvSpPr>
        <p:spPr>
          <a:xfrm>
            <a:off x="6437376" y="548640"/>
            <a:ext cx="2414016" cy="1709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selectDirection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(x,y,h){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bestDir=-1,bestF=9999;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bestUnk=-1,fallback=-1;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prev cell = avoid backtrack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px=x-dirs[h][0];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for(d=0; d&lt;4; d++){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if(!isAccessible...) skip;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if(nx==px&amp;&amp;ny==py){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fallback=d; continue;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fval=flood[nx][ny];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unk =unknownScore(nx,ny);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if(fval&lt;bestF ||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(fval==bestF &amp;&amp; unk&gt;bestUnk))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bestDir=d; // pick 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if(bestDir==-1) return fallback;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0" name="Shape 158">
            <a:extLst>
              <a:ext uri="{FF2B5EF4-FFF2-40B4-BE49-F238E27FC236}">
                <a16:creationId xmlns:a16="http://schemas.microsoft.com/office/drawing/2014/main" id="{3EC0E628-F2FD-C6E3-DAC0-B0CB07360F80}"/>
              </a:ext>
            </a:extLst>
          </p:cNvPr>
          <p:cNvSpPr/>
          <p:nvPr/>
        </p:nvSpPr>
        <p:spPr>
          <a:xfrm>
            <a:off x="6308923" y="4041648"/>
            <a:ext cx="2670484" cy="1056132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161" name="Text 159">
            <a:extLst>
              <a:ext uri="{FF2B5EF4-FFF2-40B4-BE49-F238E27FC236}">
                <a16:creationId xmlns:a16="http://schemas.microsoft.com/office/drawing/2014/main" id="{1D4C1FE3-CB49-D1A3-8CF4-5A6D1AE0EE37}"/>
              </a:ext>
            </a:extLst>
          </p:cNvPr>
          <p:cNvSpPr/>
          <p:nvPr/>
        </p:nvSpPr>
        <p:spPr>
          <a:xfrm>
            <a:off x="6308923" y="3980035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unknownScore(x,y)</a:t>
            </a:r>
            <a:endParaRPr lang="en-US" sz="1100" dirty="0"/>
          </a:p>
        </p:txBody>
      </p:sp>
      <p:sp>
        <p:nvSpPr>
          <p:cNvPr id="162" name="Text 160">
            <a:extLst>
              <a:ext uri="{FF2B5EF4-FFF2-40B4-BE49-F238E27FC236}">
                <a16:creationId xmlns:a16="http://schemas.microsoft.com/office/drawing/2014/main" id="{D5D50769-44AD-D61C-8FC8-476237F7F2AC}"/>
              </a:ext>
            </a:extLst>
          </p:cNvPr>
          <p:cNvSpPr/>
          <p:nvPr/>
        </p:nvSpPr>
        <p:spPr>
          <a:xfrm>
            <a:off x="6437376" y="3854413"/>
            <a:ext cx="2670484" cy="158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000" dirty="0"/>
              <a:t>Counts walls not yet set for a cell (N/E/S/W).</a:t>
            </a:r>
          </a:p>
          <a:p>
            <a:r>
              <a:rPr lang="en-GB" sz="1000" dirty="0"/>
              <a:t>+1 for each wall not in maze[x][y]</a:t>
            </a:r>
          </a:p>
          <a:p>
            <a:r>
              <a:rPr lang="en-GB" sz="1000" dirty="0"/>
              <a:t>Higher score → more unknown area → higher exploration priority</a:t>
            </a:r>
          </a:p>
          <a:p>
            <a:r>
              <a:rPr lang="en-GB" sz="1000" dirty="0" err="1"/>
              <a:t>selectDirection</a:t>
            </a:r>
            <a:r>
              <a:rPr lang="en-GB" sz="1000" dirty="0"/>
              <a:t>: choose lowest flood value first, then highest unknown score if tied.</a:t>
            </a:r>
          </a:p>
        </p:txBody>
      </p:sp>
      <p:sp>
        <p:nvSpPr>
          <p:cNvPr id="163" name="Text 161">
            <a:extLst>
              <a:ext uri="{FF2B5EF4-FFF2-40B4-BE49-F238E27FC236}">
                <a16:creationId xmlns:a16="http://schemas.microsoft.com/office/drawing/2014/main" id="{EADABE46-6339-8F71-CEE1-2335EBBEBC77}"/>
              </a:ext>
            </a:extLst>
          </p:cNvPr>
          <p:cNvSpPr/>
          <p:nvPr/>
        </p:nvSpPr>
        <p:spPr>
          <a:xfrm>
            <a:off x="0" y="4910328"/>
            <a:ext cx="89611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408195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3FA18E7-A9A7-771E-44F9-C3E4018A67EE}"/>
              </a:ext>
            </a:extLst>
          </p:cNvPr>
          <p:cNvSpPr/>
          <p:nvPr/>
        </p:nvSpPr>
        <p:spPr>
          <a:xfrm>
            <a:off x="310896" y="164591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senseWalls() — LiDAR Reading → Maze Map Update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A43E7AE-9F13-12E8-9176-AEB11B93EB11}"/>
              </a:ext>
            </a:extLst>
          </p:cNvPr>
          <p:cNvSpPr/>
          <p:nvPr/>
        </p:nvSpPr>
        <p:spPr>
          <a:xfrm>
            <a:off x="310896" y="566928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sensor readings to cardinal wall directions based on heading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C78F922-8FE0-4FA6-D50F-F534D2F7292F}"/>
              </a:ext>
            </a:extLst>
          </p:cNvPr>
          <p:cNvSpPr/>
          <p:nvPr/>
        </p:nvSpPr>
        <p:spPr>
          <a:xfrm>
            <a:off x="310896" y="859535"/>
            <a:ext cx="4919472" cy="3505853"/>
          </a:xfrm>
          <a:prstGeom prst="rect">
            <a:avLst/>
          </a:prstGeom>
          <a:solidFill>
            <a:srgbClr val="1E1E2E"/>
          </a:solidFill>
          <a:ln w="9525">
            <a:solidFill>
              <a:srgbClr val="2E2E4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020F691-8D92-406C-A83B-FEDF45344C34}"/>
              </a:ext>
            </a:extLst>
          </p:cNvPr>
          <p:cNvSpPr/>
          <p:nvPr/>
        </p:nvSpPr>
        <p:spPr>
          <a:xfrm>
            <a:off x="310896" y="859536"/>
            <a:ext cx="4919472" cy="219456"/>
          </a:xfrm>
          <a:prstGeom prst="rect">
            <a:avLst/>
          </a:prstGeom>
          <a:solidFill>
            <a:srgbClr val="2E2E4E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ED878B9-01B6-BA83-482C-9743CC6D2CE7}"/>
              </a:ext>
            </a:extLst>
          </p:cNvPr>
          <p:cNvSpPr/>
          <p:nvPr/>
        </p:nvSpPr>
        <p:spPr>
          <a:xfrm>
            <a:off x="374904" y="905256"/>
            <a:ext cx="128016" cy="128016"/>
          </a:xfrm>
          <a:prstGeom prst="ellipse">
            <a:avLst/>
          </a:prstGeom>
          <a:solidFill>
            <a:srgbClr val="E8725A"/>
          </a:solidFill>
          <a:ln w="12700">
            <a:solidFill>
              <a:srgbClr val="E8725A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9AC8AF4-17E7-F54B-6DD8-834822E75C6D}"/>
              </a:ext>
            </a:extLst>
          </p:cNvPr>
          <p:cNvSpPr/>
          <p:nvPr/>
        </p:nvSpPr>
        <p:spPr>
          <a:xfrm>
            <a:off x="539496" y="905256"/>
            <a:ext cx="128016" cy="128016"/>
          </a:xfrm>
          <a:prstGeom prst="ellipse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EE4501F-118E-DAFC-368D-AFF9D39038A6}"/>
              </a:ext>
            </a:extLst>
          </p:cNvPr>
          <p:cNvSpPr/>
          <p:nvPr/>
        </p:nvSpPr>
        <p:spPr>
          <a:xfrm>
            <a:off x="704088" y="905256"/>
            <a:ext cx="128016" cy="128016"/>
          </a:xfrm>
          <a:prstGeom prst="ellipse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4DDB143-BBA4-39EF-FB41-C535C71F4B1C}"/>
              </a:ext>
            </a:extLst>
          </p:cNvPr>
          <p:cNvSpPr/>
          <p:nvPr/>
        </p:nvSpPr>
        <p:spPr>
          <a:xfrm>
            <a:off x="420624" y="1133856"/>
            <a:ext cx="4700016" cy="2962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</a:t>
            </a:r>
            <a:r>
              <a:rPr lang="en-US" sz="9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senseWalls</a:t>
            </a: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 x, int y, int h)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fD = readFrontDistance();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lD = readLeftDistance();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rD = readRightDistance();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wallF = (fD &lt; wallThresholdFront);  // 100mm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wallL = (lD &lt; wallThresholdSide);   // 120mm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wallR = (rD &lt; wallThresholdSide);   // 120mm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if(wallF){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if(h==NORTH) setWall(x,y,N_WALL);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if(h==EAST)  setWall(x,y,E_WALL);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if(h==SOUTH) setWall(x,y,S_WALL);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if(h==WEST)  setWall(x,y,W_WALL);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if(wallL){                     // left→west if NORTH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if(h==NORTH) setWall(x,y,W_WALL);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if(h==EAST)  setWall(x,y,N_WALL);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if(h==SOUTH) setWall(x,y,E_WALL);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if(h==WEST)  setWall(x,y,S_WALL);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if(wallR){ /* mirror of wallL */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F91C143-14A5-A334-D832-F411397C535F}"/>
              </a:ext>
            </a:extLst>
          </p:cNvPr>
          <p:cNvSpPr/>
          <p:nvPr/>
        </p:nvSpPr>
        <p:spPr>
          <a:xfrm>
            <a:off x="310896" y="4394398"/>
            <a:ext cx="4919472" cy="702674"/>
          </a:xfrm>
          <a:prstGeom prst="rect">
            <a:avLst/>
          </a:prstGeom>
          <a:solidFill>
            <a:srgbClr val="1E1E2E"/>
          </a:solidFill>
          <a:ln w="9525">
            <a:solidFill>
              <a:srgbClr val="2E2E4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668E5CF-2393-BCA5-87DD-753724278F5A}"/>
              </a:ext>
            </a:extLst>
          </p:cNvPr>
          <p:cNvSpPr/>
          <p:nvPr/>
        </p:nvSpPr>
        <p:spPr>
          <a:xfrm>
            <a:off x="342682" y="4360380"/>
            <a:ext cx="4753024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</a:t>
            </a: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setWall</a:t>
            </a: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 x,int y,int dir)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maze[x][y] |= dir;  // bitmask 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if(dir==N_WALL&amp;&amp;y+1&lt;8) maze[x][y+1]|=S_WALL; // sync neighbour</a:t>
            </a:r>
            <a:endParaRPr lang="en-US" sz="9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F7E8AFD-5BE7-2547-0400-AAB0C30F3D7C}"/>
              </a:ext>
            </a:extLst>
          </p:cNvPr>
          <p:cNvSpPr/>
          <p:nvPr/>
        </p:nvSpPr>
        <p:spPr>
          <a:xfrm>
            <a:off x="5376672" y="841248"/>
            <a:ext cx="3493008" cy="19385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909E6F2-C7F4-F5C3-F82D-E7E80E6CA768}"/>
              </a:ext>
            </a:extLst>
          </p:cNvPr>
          <p:cNvSpPr/>
          <p:nvPr/>
        </p:nvSpPr>
        <p:spPr>
          <a:xfrm>
            <a:off x="5559552" y="91440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Bitmask — maze[x][y]</a:t>
            </a:r>
            <a:endParaRPr lang="en-US" sz="1200" dirty="0"/>
          </a:p>
        </p:txBody>
      </p:sp>
      <p:graphicFrame>
        <p:nvGraphicFramePr>
          <p:cNvPr id="19" name="Table 0">
            <a:extLst>
              <a:ext uri="{FF2B5EF4-FFF2-40B4-BE49-F238E27FC236}">
                <a16:creationId xmlns:a16="http://schemas.microsoft.com/office/drawing/2014/main" id="{4973E420-04B9-8D4B-B9A9-4EDFA192D9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419262"/>
              </p:ext>
            </p:extLst>
          </p:nvPr>
        </p:nvGraphicFramePr>
        <p:xfrm>
          <a:off x="5468112" y="1261872"/>
          <a:ext cx="3337560" cy="12192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N_WALL</a:t>
                      </a:r>
                      <a:endParaRPr lang="en-US" sz="10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(0001)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↑ wall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E_WALL</a:t>
                      </a:r>
                      <a:endParaRPr lang="en-US" sz="10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(0010)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  → wall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S_WALL</a:t>
                      </a:r>
                      <a:endParaRPr lang="en-US" sz="10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(0100)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↓ wall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W_WALL</a:t>
                      </a:r>
                      <a:endParaRPr lang="en-US" sz="1000" dirty="0">
                        <a:solidFill>
                          <a:schemeClr val="tx2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 (1000)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 ← wall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Shape 17">
            <a:extLst>
              <a:ext uri="{FF2B5EF4-FFF2-40B4-BE49-F238E27FC236}">
                <a16:creationId xmlns:a16="http://schemas.microsoft.com/office/drawing/2014/main" id="{E52F5C8B-D102-3E24-9C1B-7DFECBA2D781}"/>
              </a:ext>
            </a:extLst>
          </p:cNvPr>
          <p:cNvSpPr/>
          <p:nvPr/>
        </p:nvSpPr>
        <p:spPr>
          <a:xfrm>
            <a:off x="5365786" y="2816352"/>
            <a:ext cx="349300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5D771AA8-53E3-2F48-91A9-DC2C991298C7}"/>
              </a:ext>
            </a:extLst>
          </p:cNvPr>
          <p:cNvSpPr/>
          <p:nvPr/>
        </p:nvSpPr>
        <p:spPr>
          <a:xfrm>
            <a:off x="5548666" y="28895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→ Sensor → Wall Direction</a:t>
            </a:r>
            <a:endParaRPr lang="en-US" sz="1200" dirty="0"/>
          </a:p>
        </p:txBody>
      </p:sp>
      <p:graphicFrame>
        <p:nvGraphicFramePr>
          <p:cNvPr id="22" name="Table 1">
            <a:extLst>
              <a:ext uri="{FF2B5EF4-FFF2-40B4-BE49-F238E27FC236}">
                <a16:creationId xmlns:a16="http://schemas.microsoft.com/office/drawing/2014/main" id="{264B3E62-DC94-93B5-DBF1-F52B22233E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397717"/>
              </p:ext>
            </p:extLst>
          </p:nvPr>
        </p:nvGraphicFramePr>
        <p:xfrm>
          <a:off x="5457226" y="3218688"/>
          <a:ext cx="3337560" cy="1188720"/>
        </p:xfrm>
        <a:graphic>
          <a:graphicData uri="http://schemas.openxmlformats.org/drawingml/2006/table">
            <a:tbl>
              <a:tblPr/>
              <a:tblGrid>
                <a:gridCol w="804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</a:t>
                      </a:r>
                      <a:endParaRPr lang="en-US" sz="95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N_WALL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W_WALL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E_WALL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</a:t>
                      </a:r>
                      <a:endParaRPr lang="en-US" sz="95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E_WALL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N_WALL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S_WALL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</a:t>
                      </a:r>
                      <a:endParaRPr lang="en-US" sz="95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S_WALL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E_WALL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W_WALL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95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W_WALL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S_WALL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D2D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N_WALL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Shape 19">
            <a:extLst>
              <a:ext uri="{FF2B5EF4-FFF2-40B4-BE49-F238E27FC236}">
                <a16:creationId xmlns:a16="http://schemas.microsoft.com/office/drawing/2014/main" id="{06BA9E92-128C-0242-AC1C-85BE48E56990}"/>
              </a:ext>
            </a:extLst>
          </p:cNvPr>
          <p:cNvSpPr/>
          <p:nvPr/>
        </p:nvSpPr>
        <p:spPr>
          <a:xfrm>
            <a:off x="5450477" y="4576572"/>
            <a:ext cx="3344309" cy="527088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28B385E0-55F8-446A-84A7-11ABCC58A6FC}"/>
              </a:ext>
            </a:extLst>
          </p:cNvPr>
          <p:cNvSpPr/>
          <p:nvPr/>
        </p:nvSpPr>
        <p:spPr>
          <a:xfrm>
            <a:off x="5559552" y="4718304"/>
            <a:ext cx="3069989" cy="275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setWall() also updates the shared wall of the neighbour cell  e.g. N_WALL on (x,y) also sets S_WALL on (x,y+1). Prevents map inconsistency.</a:t>
            </a:r>
            <a:endParaRPr 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D4A1FEE1-194E-89BE-C1A8-74779C68617F}"/>
              </a:ext>
            </a:extLst>
          </p:cNvPr>
          <p:cNvSpPr/>
          <p:nvPr/>
        </p:nvSpPr>
        <p:spPr>
          <a:xfrm>
            <a:off x="0" y="4910328"/>
            <a:ext cx="89611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55690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DC6291D3-252F-C416-9905-179C8AA865DF}"/>
              </a:ext>
            </a:extLst>
          </p:cNvPr>
          <p:cNvSpPr/>
          <p:nvPr/>
        </p:nvSpPr>
        <p:spPr>
          <a:xfrm>
            <a:off x="347472" y="25603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Main Loop — 4-Stage Execution Order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0E084E9-F2C9-2F29-E666-0D1CDEF663A6}"/>
              </a:ext>
            </a:extLst>
          </p:cNvPr>
          <p:cNvSpPr/>
          <p:nvPr/>
        </p:nvSpPr>
        <p:spPr>
          <a:xfrm>
            <a:off x="347472" y="749808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iteration of loop() — from the actual code structure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BD8BBA5-D297-8D20-4FCD-ECCF2FC66752}"/>
              </a:ext>
            </a:extLst>
          </p:cNvPr>
          <p:cNvSpPr/>
          <p:nvPr/>
        </p:nvSpPr>
        <p:spPr>
          <a:xfrm>
            <a:off x="256032" y="1078992"/>
            <a:ext cx="8631936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BD5013C-945C-B96D-4047-4BC88B5803D3}"/>
              </a:ext>
            </a:extLst>
          </p:cNvPr>
          <p:cNvSpPr/>
          <p:nvPr/>
        </p:nvSpPr>
        <p:spPr>
          <a:xfrm>
            <a:off x="256032" y="1078992"/>
            <a:ext cx="749808" cy="877824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DE89921-F84A-EC54-8D14-CA6DB27A1FA1}"/>
              </a:ext>
            </a:extLst>
          </p:cNvPr>
          <p:cNvSpPr/>
          <p:nvPr/>
        </p:nvSpPr>
        <p:spPr>
          <a:xfrm>
            <a:off x="256032" y="1078992"/>
            <a:ext cx="7498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6AF2029-9CDF-BCE4-2F9E-A185378FACF6}"/>
              </a:ext>
            </a:extLst>
          </p:cNvPr>
          <p:cNvSpPr/>
          <p:nvPr/>
        </p:nvSpPr>
        <p:spPr>
          <a:xfrm>
            <a:off x="1115568" y="114300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Gyro Straight-Line PD</a:t>
            </a:r>
            <a:endParaRPr lang="en-US" sz="13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D3DC7CD-0BC6-D4A3-9157-F7D12F4FF94B}"/>
              </a:ext>
            </a:extLst>
          </p:cNvPr>
          <p:cNvSpPr/>
          <p:nvPr/>
        </p:nvSpPr>
        <p:spPr>
          <a:xfrm>
            <a:off x="1115568" y="1517904"/>
            <a:ext cx="2880360" cy="292608"/>
          </a:xfrm>
          <a:prstGeom prst="rect">
            <a:avLst/>
          </a:prstGeom>
          <a:solidFill>
            <a:srgbClr val="F9F6FE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48EC0B1-C237-E765-E932-A7E4C38E6643}"/>
              </a:ext>
            </a:extLst>
          </p:cNvPr>
          <p:cNvSpPr/>
          <p:nvPr/>
        </p:nvSpPr>
        <p:spPr>
          <a:xfrm>
            <a:off x="1188720" y="15361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dt &lt; 5ms → skip (rate-limited)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B5B0961-420C-6F1B-F894-9376F44ADE7D}"/>
              </a:ext>
            </a:extLst>
          </p:cNvPr>
          <p:cNvSpPr/>
          <p:nvPr/>
        </p:nvSpPr>
        <p:spPr>
          <a:xfrm>
            <a:off x="4242816" y="667512"/>
            <a:ext cx="4663440" cy="1289304"/>
          </a:xfrm>
          <a:prstGeom prst="rect">
            <a:avLst/>
          </a:prstGeom>
          <a:solidFill>
            <a:srgbClr val="1E1E2E"/>
          </a:solidFill>
          <a:ln w="9525">
            <a:solidFill>
              <a:srgbClr val="2E2E4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FB7CC16-3303-BCEF-E38A-DEC401B380CE}"/>
              </a:ext>
            </a:extLst>
          </p:cNvPr>
          <p:cNvSpPr/>
          <p:nvPr/>
        </p:nvSpPr>
        <p:spPr>
          <a:xfrm>
            <a:off x="4242816" y="667512"/>
            <a:ext cx="4663440" cy="219456"/>
          </a:xfrm>
          <a:prstGeom prst="rect">
            <a:avLst/>
          </a:prstGeom>
          <a:solidFill>
            <a:srgbClr val="2E2E4E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FD241FE-CBE6-3C01-A9DE-2579EEC567C6}"/>
              </a:ext>
            </a:extLst>
          </p:cNvPr>
          <p:cNvSpPr/>
          <p:nvPr/>
        </p:nvSpPr>
        <p:spPr>
          <a:xfrm>
            <a:off x="4306824" y="713232"/>
            <a:ext cx="128016" cy="128016"/>
          </a:xfrm>
          <a:prstGeom prst="ellipse">
            <a:avLst/>
          </a:prstGeom>
          <a:solidFill>
            <a:srgbClr val="E8725A"/>
          </a:solidFill>
          <a:ln w="12700">
            <a:solidFill>
              <a:srgbClr val="E8725A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763A2E9-A741-EB02-C006-9F36F713B76C}"/>
              </a:ext>
            </a:extLst>
          </p:cNvPr>
          <p:cNvSpPr/>
          <p:nvPr/>
        </p:nvSpPr>
        <p:spPr>
          <a:xfrm>
            <a:off x="4471416" y="713232"/>
            <a:ext cx="128016" cy="128016"/>
          </a:xfrm>
          <a:prstGeom prst="ellipse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BFA2298-1637-10CB-B238-E4B58D24EE11}"/>
              </a:ext>
            </a:extLst>
          </p:cNvPr>
          <p:cNvSpPr/>
          <p:nvPr/>
        </p:nvSpPr>
        <p:spPr>
          <a:xfrm>
            <a:off x="4636008" y="713232"/>
            <a:ext cx="128016" cy="128016"/>
          </a:xfrm>
          <a:prstGeom prst="ellipse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513A4A9-5523-BE85-5C3F-B31ECA8E62A5}"/>
              </a:ext>
            </a:extLst>
          </p:cNvPr>
          <p:cNvSpPr/>
          <p:nvPr/>
        </p:nvSpPr>
        <p:spPr>
          <a:xfrm>
            <a:off x="4352544" y="941832"/>
            <a:ext cx="44439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dt = (now - lastUs) / 1e6f;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if(dt &lt; 0.005f) return;</a:t>
            </a:r>
            <a:r>
              <a:rPr lang="en-US" sz="7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rate limit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gz = readGz() - gz_bias;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yaw += gz * dt;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gyroCorr = SIGN*(Kp_yaw*err - Kd_rate*gz);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corr = constrain(gyroCorr+wallCorr,-70,70);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pwmA = constrain(baseA-corr, 0,180); // 65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pwmB = constrain(baseB+corr, 0,180); // 55</a:t>
            </a:r>
            <a:endParaRPr lang="en-US" sz="7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D1CB5FB-AA4D-3E39-E1A1-F96B7342AAF1}"/>
              </a:ext>
            </a:extLst>
          </p:cNvPr>
          <p:cNvSpPr/>
          <p:nvPr/>
        </p:nvSpPr>
        <p:spPr>
          <a:xfrm>
            <a:off x="256032" y="2048256"/>
            <a:ext cx="8631936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17F3815-E9CE-D61D-F800-4415FA9FE54E}"/>
              </a:ext>
            </a:extLst>
          </p:cNvPr>
          <p:cNvSpPr/>
          <p:nvPr/>
        </p:nvSpPr>
        <p:spPr>
          <a:xfrm>
            <a:off x="256032" y="2048256"/>
            <a:ext cx="749808" cy="877824"/>
          </a:xfrm>
          <a:prstGeom prst="rect">
            <a:avLst/>
          </a:prstGeom>
          <a:solidFill>
            <a:schemeClr val="accent4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B71AC16-2D88-D71F-0CC5-423F8EE5716C}"/>
              </a:ext>
            </a:extLst>
          </p:cNvPr>
          <p:cNvSpPr/>
          <p:nvPr/>
        </p:nvSpPr>
        <p:spPr>
          <a:xfrm>
            <a:off x="256032" y="2048256"/>
            <a:ext cx="7498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7970619-7CAE-C0B1-1842-79750F097BDE}"/>
              </a:ext>
            </a:extLst>
          </p:cNvPr>
          <p:cNvSpPr/>
          <p:nvPr/>
        </p:nvSpPr>
        <p:spPr>
          <a:xfrm>
            <a:off x="1115568" y="211226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PD Correction</a:t>
            </a:r>
            <a:endParaRPr lang="en-US" sz="13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C7689D7-729C-5F5D-F500-1214EF36ADD7}"/>
              </a:ext>
            </a:extLst>
          </p:cNvPr>
          <p:cNvSpPr/>
          <p:nvPr/>
        </p:nvSpPr>
        <p:spPr>
          <a:xfrm>
            <a:off x="1115568" y="2487168"/>
            <a:ext cx="2880360" cy="292608"/>
          </a:xfrm>
          <a:prstGeom prst="rect">
            <a:avLst/>
          </a:prstGeom>
          <a:solidFill>
            <a:srgbClr val="F9F6FE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93F0B20-4CD6-83B7-81B0-7256D3632748}"/>
              </a:ext>
            </a:extLst>
          </p:cNvPr>
          <p:cNvSpPr/>
          <p:nvPr/>
        </p:nvSpPr>
        <p:spPr>
          <a:xfrm>
            <a:off x="1188720" y="25054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Every 30ms (was 100ms)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74962CB-F9CB-E74D-FDE4-7850A29CF0A8}"/>
              </a:ext>
            </a:extLst>
          </p:cNvPr>
          <p:cNvSpPr/>
          <p:nvPr/>
        </p:nvSpPr>
        <p:spPr>
          <a:xfrm>
            <a:off x="4233672" y="2011680"/>
            <a:ext cx="4663440" cy="1088136"/>
          </a:xfrm>
          <a:prstGeom prst="rect">
            <a:avLst/>
          </a:prstGeom>
          <a:solidFill>
            <a:srgbClr val="1E1E2E"/>
          </a:solidFill>
          <a:ln w="9525">
            <a:solidFill>
              <a:srgbClr val="2E2E4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3666799-BB82-8437-F43C-ECA7294E1713}"/>
              </a:ext>
            </a:extLst>
          </p:cNvPr>
          <p:cNvSpPr/>
          <p:nvPr/>
        </p:nvSpPr>
        <p:spPr>
          <a:xfrm>
            <a:off x="4242816" y="2058712"/>
            <a:ext cx="44439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if(nowMs - lastSideRead &gt; 30){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cachedLeft  = readLeftDistance();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cachedRight = readRightDistance();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if(wL &amp;&amp; wR) wallError = R - L; // both walls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if(only wR) wallError = R - centerTarget(35);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if(cachedR &lt; dangerZone(20)) wallError=+60;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wallCorr = Kp_wall*err + Kd_wall*(err-prev);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wallCorr = constrain(wallCorr, -35, 35);</a:t>
            </a:r>
            <a:endParaRPr lang="en-US" sz="7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259BB98-BD9B-A26B-7809-E4E0C67B09EE}"/>
              </a:ext>
            </a:extLst>
          </p:cNvPr>
          <p:cNvSpPr/>
          <p:nvPr/>
        </p:nvSpPr>
        <p:spPr>
          <a:xfrm>
            <a:off x="256032" y="3017520"/>
            <a:ext cx="8631936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FD52E07-7803-7CE0-D27C-B478762DEF7F}"/>
              </a:ext>
            </a:extLst>
          </p:cNvPr>
          <p:cNvSpPr/>
          <p:nvPr/>
        </p:nvSpPr>
        <p:spPr>
          <a:xfrm>
            <a:off x="256032" y="3017520"/>
            <a:ext cx="749808" cy="877824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43C3DF1-8432-6B92-4C65-8A52EE34EE9D}"/>
              </a:ext>
            </a:extLst>
          </p:cNvPr>
          <p:cNvSpPr/>
          <p:nvPr/>
        </p:nvSpPr>
        <p:spPr>
          <a:xfrm>
            <a:off x="256032" y="3017520"/>
            <a:ext cx="7498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F46BDE34-CBFF-4969-0C96-BCAF6ECC2C10}"/>
              </a:ext>
            </a:extLst>
          </p:cNvPr>
          <p:cNvSpPr/>
          <p:nvPr/>
        </p:nvSpPr>
        <p:spPr>
          <a:xfrm>
            <a:off x="1115568" y="30815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Emergency Stop</a:t>
            </a:r>
            <a:endParaRPr lang="en-US" sz="13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C4937DBE-527B-114E-2271-424EFD9283C1}"/>
              </a:ext>
            </a:extLst>
          </p:cNvPr>
          <p:cNvSpPr/>
          <p:nvPr/>
        </p:nvSpPr>
        <p:spPr>
          <a:xfrm>
            <a:off x="1115568" y="3456432"/>
            <a:ext cx="2880360" cy="292608"/>
          </a:xfrm>
          <a:prstGeom prst="rect">
            <a:avLst/>
          </a:prstGeom>
          <a:solidFill>
            <a:srgbClr val="F9F6FE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C4430B5-0739-BC8D-76E7-4AEA9E1ECBA1}"/>
              </a:ext>
            </a:extLst>
          </p:cNvPr>
          <p:cNvSpPr/>
          <p:nvPr/>
        </p:nvSpPr>
        <p:spPr>
          <a:xfrm>
            <a:off x="1188720" y="34747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Every 80ms | frontDist &lt; 50mm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536A8827-B70E-FDFF-DDFE-CA7A1D33B2DD}"/>
              </a:ext>
            </a:extLst>
          </p:cNvPr>
          <p:cNvSpPr/>
          <p:nvPr/>
        </p:nvSpPr>
        <p:spPr>
          <a:xfrm>
            <a:off x="4233672" y="3054096"/>
            <a:ext cx="4663440" cy="1339596"/>
          </a:xfrm>
          <a:prstGeom prst="rect">
            <a:avLst/>
          </a:prstGeom>
          <a:solidFill>
            <a:srgbClr val="1E1E2E"/>
          </a:solidFill>
          <a:ln w="9525">
            <a:solidFill>
              <a:srgbClr val="2E2E4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79539B9C-97F0-9C2C-E21E-42D85D6BEE65}"/>
              </a:ext>
            </a:extLst>
          </p:cNvPr>
          <p:cNvSpPr/>
          <p:nvPr/>
        </p:nvSpPr>
        <p:spPr>
          <a:xfrm>
            <a:off x="4242816" y="3067921"/>
            <a:ext cx="444398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if(nowMs - lastFrontCheck &gt; 80){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frontDist = readFrontDistance();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if(frontDist &lt; 50){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stopMotors(); delay(50);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senseWalls(posX,posY,heading);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floodFill();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dir = selectDirection(...);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turnToFace(dir); resumeDriving();</a:t>
            </a:r>
            <a:endParaRPr lang="en-US" sz="7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C4DB3182-92B6-01E7-F139-1059239368ED}"/>
              </a:ext>
            </a:extLst>
          </p:cNvPr>
          <p:cNvSpPr/>
          <p:nvPr/>
        </p:nvSpPr>
        <p:spPr>
          <a:xfrm>
            <a:off x="256032" y="3986784"/>
            <a:ext cx="8631936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C2FA4D61-6828-2404-1366-F6DE1019627C}"/>
              </a:ext>
            </a:extLst>
          </p:cNvPr>
          <p:cNvSpPr/>
          <p:nvPr/>
        </p:nvSpPr>
        <p:spPr>
          <a:xfrm>
            <a:off x="256032" y="3986784"/>
            <a:ext cx="749808" cy="877824"/>
          </a:xfrm>
          <a:prstGeom prst="rect">
            <a:avLst/>
          </a:prstGeom>
          <a:solidFill>
            <a:schemeClr val="accent1"/>
          </a:solidFill>
          <a:ln w="12700">
            <a:solidFill>
              <a:srgbClr val="E8725A"/>
            </a:solidFill>
            <a:prstDash val="solid"/>
          </a:ln>
        </p:spPr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06E81E92-6A92-3C04-6E1A-6FBBAD32ED41}"/>
              </a:ext>
            </a:extLst>
          </p:cNvPr>
          <p:cNvSpPr/>
          <p:nvPr/>
        </p:nvSpPr>
        <p:spPr>
          <a:xfrm>
            <a:off x="256032" y="3986784"/>
            <a:ext cx="7498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2695812E-4553-71EE-FF1A-A411A163F162}"/>
              </a:ext>
            </a:extLst>
          </p:cNvPr>
          <p:cNvSpPr/>
          <p:nvPr/>
        </p:nvSpPr>
        <p:spPr>
          <a:xfrm>
            <a:off x="1115568" y="40507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Boundary Decision</a:t>
            </a:r>
            <a:endParaRPr lang="en-US" sz="13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AE90BF2F-FAE6-2F7D-4B1D-CC72B91E69DE}"/>
              </a:ext>
            </a:extLst>
          </p:cNvPr>
          <p:cNvSpPr/>
          <p:nvPr/>
        </p:nvSpPr>
        <p:spPr>
          <a:xfrm>
            <a:off x="1115568" y="4425696"/>
            <a:ext cx="2880360" cy="292608"/>
          </a:xfrm>
          <a:prstGeom prst="rect">
            <a:avLst/>
          </a:prstGeom>
          <a:solidFill>
            <a:srgbClr val="F9F6FE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7192A53B-72EB-A096-5DCA-FACD7EB8FB0B}"/>
              </a:ext>
            </a:extLst>
          </p:cNvPr>
          <p:cNvSpPr/>
          <p:nvPr/>
        </p:nvSpPr>
        <p:spPr>
          <a:xfrm>
            <a:off x="1188720" y="44439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Every 240 encoder ticks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E9B3B77D-D7A1-8B98-23F8-4B2F68DC7270}"/>
              </a:ext>
            </a:extLst>
          </p:cNvPr>
          <p:cNvSpPr/>
          <p:nvPr/>
        </p:nvSpPr>
        <p:spPr>
          <a:xfrm>
            <a:off x="4233672" y="4012039"/>
            <a:ext cx="4663440" cy="1014985"/>
          </a:xfrm>
          <a:prstGeom prst="rect">
            <a:avLst/>
          </a:prstGeom>
          <a:solidFill>
            <a:srgbClr val="1E1E2E"/>
          </a:solidFill>
          <a:ln w="9525">
            <a:solidFill>
              <a:srgbClr val="2E2E4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14627775-70F5-5607-562D-3D714A0090D9}"/>
              </a:ext>
            </a:extLst>
          </p:cNvPr>
          <p:cNvSpPr/>
          <p:nvPr/>
        </p:nvSpPr>
        <p:spPr>
          <a:xfrm>
            <a:off x="4233672" y="3959813"/>
            <a:ext cx="4443984" cy="8046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ticks = (labs(</a:t>
            </a:r>
            <a:r>
              <a:rPr lang="en-US" sz="700" dirty="0" err="1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countA</a:t>
            </a: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)+labs(</a:t>
            </a:r>
            <a:r>
              <a:rPr lang="en-US" sz="700" dirty="0" err="1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countB</a:t>
            </a: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))/2;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if(ticks - </a:t>
            </a:r>
            <a:r>
              <a:rPr lang="en-US" sz="700" dirty="0" err="1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lastCheckTicks</a:t>
            </a: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240){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700" dirty="0" err="1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gradualStop</a:t>
            </a: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</a:t>
            </a:r>
            <a:r>
              <a:rPr lang="en-US" sz="700" dirty="0" err="1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updatePosition</a:t>
            </a: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</a:t>
            </a:r>
            <a:r>
              <a:rPr lang="en-US" sz="700" dirty="0" err="1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squareDelayMs</a:t>
            </a: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// 300ms pause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700" dirty="0" err="1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senseWalls→floodFill→printFlood</a:t>
            </a: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700" dirty="0" err="1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</a:t>
            </a: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700" dirty="0" err="1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selectDirection</a:t>
            </a: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700" dirty="0" err="1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posX,posY,heading</a:t>
            </a: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</a:t>
            </a:r>
            <a:r>
              <a:rPr lang="en-US" sz="700" dirty="0" err="1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</a:t>
            </a: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!=heading) </a:t>
            </a:r>
            <a:r>
              <a:rPr lang="en-US" sz="700" dirty="0" err="1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turnToFace</a:t>
            </a: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700" dirty="0" err="1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</a:t>
            </a: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</a:t>
            </a:r>
            <a:r>
              <a:rPr lang="en-US" sz="700" dirty="0" err="1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resumeDriving</a:t>
            </a: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// straight on</a:t>
            </a:r>
            <a:endParaRPr lang="en-US" sz="7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4B9EAD73-0894-674A-CF69-127DA5A21F61}"/>
              </a:ext>
            </a:extLst>
          </p:cNvPr>
          <p:cNvSpPr/>
          <p:nvPr/>
        </p:nvSpPr>
        <p:spPr>
          <a:xfrm>
            <a:off x="182880" y="4932894"/>
            <a:ext cx="89611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8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179168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36DD1AB-01D9-0CA6-CAB7-7412CBEEC116}"/>
              </a:ext>
            </a:extLst>
          </p:cNvPr>
          <p:cNvSpPr/>
          <p:nvPr/>
        </p:nvSpPr>
        <p:spPr>
          <a:xfrm>
            <a:off x="347472" y="25603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Two-Layer PD Control — Gyro + Wall Centering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5098407-A861-A273-AE53-F5D3294EE206}"/>
              </a:ext>
            </a:extLst>
          </p:cNvPr>
          <p:cNvSpPr/>
          <p:nvPr/>
        </p:nvSpPr>
        <p:spPr>
          <a:xfrm>
            <a:off x="347472" y="749808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yaw heading correction. Layer 2: side-wall position correction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5FE869E-4DD5-C969-B776-59D13ED329F6}"/>
              </a:ext>
            </a:extLst>
          </p:cNvPr>
          <p:cNvSpPr/>
          <p:nvPr/>
        </p:nvSpPr>
        <p:spPr>
          <a:xfrm>
            <a:off x="256032" y="1078992"/>
            <a:ext cx="4709160" cy="2340864"/>
          </a:xfrm>
          <a:prstGeom prst="rect">
            <a:avLst/>
          </a:prstGeom>
          <a:solidFill>
            <a:srgbClr val="1E1E2E"/>
          </a:solidFill>
          <a:ln w="9525">
            <a:solidFill>
              <a:srgbClr val="2E2E4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C6A01EE-E0E9-FEB8-8CC8-56E088972B3C}"/>
              </a:ext>
            </a:extLst>
          </p:cNvPr>
          <p:cNvSpPr/>
          <p:nvPr/>
        </p:nvSpPr>
        <p:spPr>
          <a:xfrm>
            <a:off x="256032" y="1078992"/>
            <a:ext cx="4709160" cy="219456"/>
          </a:xfrm>
          <a:prstGeom prst="rect">
            <a:avLst/>
          </a:prstGeom>
          <a:solidFill>
            <a:srgbClr val="2E2E4E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03B655C-1FAE-1EAE-0443-4AF1915E2E41}"/>
              </a:ext>
            </a:extLst>
          </p:cNvPr>
          <p:cNvSpPr/>
          <p:nvPr/>
        </p:nvSpPr>
        <p:spPr>
          <a:xfrm>
            <a:off x="320040" y="1124712"/>
            <a:ext cx="128016" cy="128016"/>
          </a:xfrm>
          <a:prstGeom prst="ellipse">
            <a:avLst/>
          </a:prstGeom>
          <a:solidFill>
            <a:srgbClr val="E8725A"/>
          </a:solidFill>
          <a:ln w="12700">
            <a:solidFill>
              <a:srgbClr val="E8725A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D3BD07E-1455-BE79-F31E-14A0C525C5A4}"/>
              </a:ext>
            </a:extLst>
          </p:cNvPr>
          <p:cNvSpPr/>
          <p:nvPr/>
        </p:nvSpPr>
        <p:spPr>
          <a:xfrm>
            <a:off x="484632" y="1124712"/>
            <a:ext cx="128016" cy="128016"/>
          </a:xfrm>
          <a:prstGeom prst="ellipse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BEC128E-2643-DE97-E7C5-D14C9EB30233}"/>
              </a:ext>
            </a:extLst>
          </p:cNvPr>
          <p:cNvSpPr/>
          <p:nvPr/>
        </p:nvSpPr>
        <p:spPr>
          <a:xfrm>
            <a:off x="649224" y="1124712"/>
            <a:ext cx="128016" cy="128016"/>
          </a:xfrm>
          <a:prstGeom prst="ellipse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AF55712-E404-8627-5531-9F93A97404AB}"/>
              </a:ext>
            </a:extLst>
          </p:cNvPr>
          <p:cNvSpPr/>
          <p:nvPr/>
        </p:nvSpPr>
        <p:spPr>
          <a:xfrm>
            <a:off x="365760" y="1264556"/>
            <a:ext cx="4489704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=== LAYER 1: GYRO (every loop ≥5ms) ===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gz = readGz() - gz_bias;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yaw += gz * dt;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err = 0.0f - yaw;   // target yaw = 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gyroCorr = SIGN * (Kp_yaw*err - Kd_rate*gz);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Kp_yaw=220.0  Kd_rate=25.0  SIGN=-1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=== LAYER 2: WALL PD (every 30ms) ===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wallError = cachedRight - cachedLeft; //both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single right wall: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wallError = cachedRight - centerTarget; // 35mm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if(cachedRight &lt; dangerZone) // 20mm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38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wallError = dangerPush; // =60 emergency!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wallD = wallError - prevWallError;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wallCorr = Kp_wall*wallError + Kd_wall*wallD;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Kp_wall=1.2  Kd_wall=0.8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wallCorr = constrain(wallCorr, -35, 35);</a:t>
            </a:r>
            <a:endParaRPr lang="en-US" sz="8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7CDD7C2-C68B-7586-6CC6-C98763CC7E40}"/>
              </a:ext>
            </a:extLst>
          </p:cNvPr>
          <p:cNvSpPr/>
          <p:nvPr/>
        </p:nvSpPr>
        <p:spPr>
          <a:xfrm>
            <a:off x="256032" y="3529584"/>
            <a:ext cx="4709160" cy="1408176"/>
          </a:xfrm>
          <a:prstGeom prst="rect">
            <a:avLst/>
          </a:prstGeom>
          <a:solidFill>
            <a:srgbClr val="1E1E2E"/>
          </a:solidFill>
          <a:ln w="9525">
            <a:solidFill>
              <a:srgbClr val="2E2E4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C001622-67E2-AF3B-F0D2-21CD99C7FC1D}"/>
              </a:ext>
            </a:extLst>
          </p:cNvPr>
          <p:cNvSpPr/>
          <p:nvPr/>
        </p:nvSpPr>
        <p:spPr>
          <a:xfrm>
            <a:off x="256032" y="3529584"/>
            <a:ext cx="4709160" cy="219456"/>
          </a:xfrm>
          <a:prstGeom prst="rect">
            <a:avLst/>
          </a:prstGeom>
          <a:solidFill>
            <a:srgbClr val="2E2E4E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9CF15E5-6D3C-B43D-DF99-A5D8AF36901C}"/>
              </a:ext>
            </a:extLst>
          </p:cNvPr>
          <p:cNvSpPr/>
          <p:nvPr/>
        </p:nvSpPr>
        <p:spPr>
          <a:xfrm>
            <a:off x="320040" y="3575304"/>
            <a:ext cx="128016" cy="128016"/>
          </a:xfrm>
          <a:prstGeom prst="ellipse">
            <a:avLst/>
          </a:prstGeom>
          <a:solidFill>
            <a:srgbClr val="E8725A"/>
          </a:solidFill>
          <a:ln w="12700">
            <a:solidFill>
              <a:srgbClr val="E8725A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B5B3F73-CE2F-B304-0892-6AEA2ECE68FA}"/>
              </a:ext>
            </a:extLst>
          </p:cNvPr>
          <p:cNvSpPr/>
          <p:nvPr/>
        </p:nvSpPr>
        <p:spPr>
          <a:xfrm>
            <a:off x="484632" y="3575304"/>
            <a:ext cx="128016" cy="128016"/>
          </a:xfrm>
          <a:prstGeom prst="ellipse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6EAE473-DF3D-5EDE-33DF-3900AECC5937}"/>
              </a:ext>
            </a:extLst>
          </p:cNvPr>
          <p:cNvSpPr/>
          <p:nvPr/>
        </p:nvSpPr>
        <p:spPr>
          <a:xfrm>
            <a:off x="649224" y="3575304"/>
            <a:ext cx="128016" cy="128016"/>
          </a:xfrm>
          <a:prstGeom prst="ellipse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F862AAA-36D1-10B0-1B3B-5A29742E5F1B}"/>
              </a:ext>
            </a:extLst>
          </p:cNvPr>
          <p:cNvSpPr/>
          <p:nvPr/>
        </p:nvSpPr>
        <p:spPr>
          <a:xfrm>
            <a:off x="365760" y="3803904"/>
            <a:ext cx="4489704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=== COMBINE &amp; APPLY ===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corr = constrain(gyroCorr + wallCorr, -70, 70);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pwmA = constrain(baseA - corr, 0, 180); // 65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pwmB = constrain(baseB + corr, 0, 180); // 55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setForward();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analogWrite(ENA, pwmA);  // GPIO 25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analogWrite(ENB, pwmB);  // GPIO 26</a:t>
            </a:r>
            <a:endParaRPr lang="en-US" sz="9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C7235FC-7525-F305-6C84-633C3589E302}"/>
              </a:ext>
            </a:extLst>
          </p:cNvPr>
          <p:cNvSpPr/>
          <p:nvPr/>
        </p:nvSpPr>
        <p:spPr>
          <a:xfrm>
            <a:off x="5074920" y="704088"/>
            <a:ext cx="3869654" cy="3479292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B73A32C-7056-A728-9FEF-D21D7C93D1AB}"/>
              </a:ext>
            </a:extLst>
          </p:cNvPr>
          <p:cNvSpPr/>
          <p:nvPr/>
        </p:nvSpPr>
        <p:spPr>
          <a:xfrm>
            <a:off x="5257800" y="68122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PD Tuning Values</a:t>
            </a:r>
            <a:endParaRPr lang="en-US" sz="1300" dirty="0"/>
          </a:p>
        </p:txBody>
      </p:sp>
      <p:graphicFrame>
        <p:nvGraphicFramePr>
          <p:cNvPr id="19" name="Table 0">
            <a:extLst>
              <a:ext uri="{FF2B5EF4-FFF2-40B4-BE49-F238E27FC236}">
                <a16:creationId xmlns:a16="http://schemas.microsoft.com/office/drawing/2014/main" id="{D42578E2-4249-24AE-CC0D-69B7069EC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943753"/>
              </p:ext>
            </p:extLst>
          </p:nvPr>
        </p:nvGraphicFramePr>
        <p:xfrm>
          <a:off x="5226994" y="952500"/>
          <a:ext cx="3611880" cy="3002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7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Param</a:t>
                      </a:r>
                      <a:endParaRPr lang="en-US" sz="11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Value</a:t>
                      </a:r>
                      <a:endParaRPr lang="en-US" sz="11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Notes</a:t>
                      </a:r>
                      <a:endParaRPr lang="en-US" sz="1100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 err="1">
                          <a:solidFill>
                            <a:srgbClr val="2D2D4E"/>
                          </a:solidFill>
                        </a:rPr>
                        <a:t>Kp_yaw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220.0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Gyro P — heading correction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Kd_rate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25.0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Gyro D — damps oscillation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SIGN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−1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Flip if robot curves wrong way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corrLimit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70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Max combined correction ±70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baseA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65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Motor A base PWM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baseB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55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Motor B base PWM (different!)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Kp_wall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1.2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Wall P (was 1.8 → too shaky)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Kd_wall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0.8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Wall D (was 2.0 → too shaky)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wallCorrLimit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35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Max wall corr (was 50)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centerTarget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35mm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Target side wall distance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dangerZone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20mm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Emergency push threshold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dangerPush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60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2D4E"/>
                          </a:solidFill>
                        </a:rPr>
                        <a:t>Emergency push (was 80)</a:t>
                      </a:r>
                      <a:endParaRPr lang="en-US" sz="9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0" name="Shape 17">
            <a:extLst>
              <a:ext uri="{FF2B5EF4-FFF2-40B4-BE49-F238E27FC236}">
                <a16:creationId xmlns:a16="http://schemas.microsoft.com/office/drawing/2014/main" id="{2B17C806-4E5D-8977-6B2C-802B71F4AB03}"/>
              </a:ext>
            </a:extLst>
          </p:cNvPr>
          <p:cNvSpPr/>
          <p:nvPr/>
        </p:nvSpPr>
        <p:spPr>
          <a:xfrm>
            <a:off x="5177246" y="4466844"/>
            <a:ext cx="3767328" cy="6629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9E78F1BF-C57F-F0E7-8B63-416AC7C121BF}"/>
              </a:ext>
            </a:extLst>
          </p:cNvPr>
          <p:cNvSpPr/>
          <p:nvPr/>
        </p:nvSpPr>
        <p:spPr>
          <a:xfrm>
            <a:off x="5072308" y="4359402"/>
            <a:ext cx="148916" cy="77038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C4988CDA-426B-9E98-1BD3-259E618BCF69}"/>
              </a:ext>
            </a:extLst>
          </p:cNvPr>
          <p:cNvSpPr/>
          <p:nvPr/>
        </p:nvSpPr>
        <p:spPr>
          <a:xfrm>
            <a:off x="5307548" y="4437125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baseA≠baseB?</a:t>
            </a:r>
            <a:endParaRPr lang="en-US" sz="11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A6DCDDA6-E264-E753-0DB0-253DEF7C185E}"/>
              </a:ext>
            </a:extLst>
          </p:cNvPr>
          <p:cNvSpPr/>
          <p:nvPr/>
        </p:nvSpPr>
        <p:spPr>
          <a:xfrm>
            <a:off x="5506430" y="4850892"/>
            <a:ext cx="33284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motors are physically different. baseA=65 vs baseB=55 compensates for the constant torque imbalance. The gyro PD loop handles dynamic drift on top.</a:t>
            </a:r>
            <a:endParaRPr lang="en-US" sz="950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B84B7319-1D3E-2140-C3F7-046990E3A3C2}"/>
              </a:ext>
            </a:extLst>
          </p:cNvPr>
          <p:cNvSpPr/>
          <p:nvPr/>
        </p:nvSpPr>
        <p:spPr>
          <a:xfrm>
            <a:off x="5126082" y="4016174"/>
            <a:ext cx="3835037" cy="423237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93DDCA47-B8FE-A047-CE5C-0C1496223BCC}"/>
              </a:ext>
            </a:extLst>
          </p:cNvPr>
          <p:cNvSpPr/>
          <p:nvPr/>
        </p:nvSpPr>
        <p:spPr>
          <a:xfrm>
            <a:off x="5072308" y="4018678"/>
            <a:ext cx="148916" cy="448166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9F42B41D-079E-116B-CF3C-08A0E9B8538A}"/>
              </a:ext>
            </a:extLst>
          </p:cNvPr>
          <p:cNvSpPr/>
          <p:nvPr/>
        </p:nvSpPr>
        <p:spPr>
          <a:xfrm>
            <a:off x="5308092" y="3952167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= -1</a:t>
            </a:r>
            <a:endParaRPr lang="en-US" sz="11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80D61948-5C0A-42E7-1097-945460809B16}"/>
              </a:ext>
            </a:extLst>
          </p:cNvPr>
          <p:cNvSpPr/>
          <p:nvPr/>
        </p:nvSpPr>
        <p:spPr>
          <a:xfrm>
            <a:off x="5307548" y="4173908"/>
            <a:ext cx="3399826" cy="192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motor wiring polarity. Flip to +1 if robot curves opposite direction — no rewiring needed.</a:t>
            </a:r>
            <a:endParaRPr lang="en-US" sz="95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DD4094D7-A7D5-0FD6-CB4C-2E2EC69E3492}"/>
              </a:ext>
            </a:extLst>
          </p:cNvPr>
          <p:cNvSpPr/>
          <p:nvPr/>
        </p:nvSpPr>
        <p:spPr>
          <a:xfrm>
            <a:off x="0" y="4910328"/>
            <a:ext cx="89611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MicroMouse  ·  Interfacing Techniques  ·  9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682023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D0338A7-1245-FA15-B3FB-F1337CE9B4BB}"/>
              </a:ext>
            </a:extLst>
          </p:cNvPr>
          <p:cNvSpPr/>
          <p:nvPr/>
        </p:nvSpPr>
        <p:spPr>
          <a:xfrm>
            <a:off x="347472" y="145096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turnRight90() / turnLeft90() — Encoder-Based Turns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BE2CC0-D0E8-D0DC-7062-C7F3D3F92FC4}"/>
              </a:ext>
            </a:extLst>
          </p:cNvPr>
          <p:cNvSpPr/>
          <p:nvPr/>
        </p:nvSpPr>
        <p:spPr>
          <a:xfrm>
            <a:off x="347472" y="585216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ticks per 90°, balanced tick control, gradual PWM ramp-down + straightenYaw()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F26226C-ACDA-75AF-E276-25588A73F057}"/>
              </a:ext>
            </a:extLst>
          </p:cNvPr>
          <p:cNvSpPr/>
          <p:nvPr/>
        </p:nvSpPr>
        <p:spPr>
          <a:xfrm>
            <a:off x="256032" y="850392"/>
            <a:ext cx="4892040" cy="2638044"/>
          </a:xfrm>
          <a:prstGeom prst="rect">
            <a:avLst/>
          </a:prstGeom>
          <a:solidFill>
            <a:srgbClr val="1E1E2E"/>
          </a:solidFill>
          <a:ln w="9525">
            <a:solidFill>
              <a:srgbClr val="2E2E4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CC6AE3D-C146-51E0-36B7-4536D076BB38}"/>
              </a:ext>
            </a:extLst>
          </p:cNvPr>
          <p:cNvSpPr/>
          <p:nvPr/>
        </p:nvSpPr>
        <p:spPr>
          <a:xfrm>
            <a:off x="256032" y="850391"/>
            <a:ext cx="4892040" cy="258421"/>
          </a:xfrm>
          <a:prstGeom prst="rect">
            <a:avLst/>
          </a:prstGeom>
          <a:solidFill>
            <a:srgbClr val="2E2E4E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6BEDAC9-F5F8-4485-31F2-ED655AC51EF9}"/>
              </a:ext>
            </a:extLst>
          </p:cNvPr>
          <p:cNvSpPr/>
          <p:nvPr/>
        </p:nvSpPr>
        <p:spPr>
          <a:xfrm>
            <a:off x="320040" y="896111"/>
            <a:ext cx="128016" cy="150745"/>
          </a:xfrm>
          <a:prstGeom prst="ellipse">
            <a:avLst/>
          </a:prstGeom>
          <a:solidFill>
            <a:srgbClr val="E8725A"/>
          </a:solidFill>
          <a:ln w="12700">
            <a:solidFill>
              <a:srgbClr val="E8725A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324E8E2-B034-E70E-3452-48194B5356FE}"/>
              </a:ext>
            </a:extLst>
          </p:cNvPr>
          <p:cNvSpPr/>
          <p:nvPr/>
        </p:nvSpPr>
        <p:spPr>
          <a:xfrm>
            <a:off x="484632" y="896111"/>
            <a:ext cx="128016" cy="150745"/>
          </a:xfrm>
          <a:prstGeom prst="ellipse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572AB03-1DEB-081C-934B-0E04F6C79392}"/>
              </a:ext>
            </a:extLst>
          </p:cNvPr>
          <p:cNvSpPr/>
          <p:nvPr/>
        </p:nvSpPr>
        <p:spPr>
          <a:xfrm>
            <a:off x="649224" y="896111"/>
            <a:ext cx="128016" cy="150745"/>
          </a:xfrm>
          <a:prstGeom prst="ellipse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6EC8592-9E65-832F-C2FC-F29867FE38EB}"/>
              </a:ext>
            </a:extLst>
          </p:cNvPr>
          <p:cNvSpPr/>
          <p:nvPr/>
        </p:nvSpPr>
        <p:spPr>
          <a:xfrm>
            <a:off x="365760" y="1124712"/>
            <a:ext cx="4672584" cy="22288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</a:t>
            </a:r>
            <a:r>
              <a:rPr lang="en-US" sz="7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turnRight90</a:t>
            </a: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stopMotors(); delay(</a:t>
            </a:r>
            <a:r>
              <a:rPr lang="en-US" sz="7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resetCountersSafe();  // detach ISR, 0, reattach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spinRight();  // IN1=H IN2=L  IN3=L IN4=H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analogWrite(ENA, turnPWM);  // 85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analogWrite(ENB, turnPWM);  // 85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unsigned long start = millis();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while(true){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long tA=labs(countA), tB=labs(countB);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if(tA &gt;= 85 &amp;&amp; tB &gt;= 85){  // turnCounts90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for(p=85;p&gt;=0;p-=15) {   // ramp down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analogWrite(ENA,p);analogWrite(ENB,p);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delay(10);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stopMotors(); delay(100); return;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Balance ticks — keep both wheels equal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if(tA &gt; tB+5) ENA = turnPWM*0.7; // slow A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if(tB &gt; tA+5) ENB = turnPWM*0.7; // slow B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if(millis()-start&gt;2000) return; // timeout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delay(2);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ADCE05A-C8E5-6D42-2030-E3A7ED068798}"/>
              </a:ext>
            </a:extLst>
          </p:cNvPr>
          <p:cNvSpPr/>
          <p:nvPr/>
        </p:nvSpPr>
        <p:spPr>
          <a:xfrm>
            <a:off x="256032" y="3534155"/>
            <a:ext cx="4892040" cy="1775362"/>
          </a:xfrm>
          <a:prstGeom prst="rect">
            <a:avLst/>
          </a:prstGeom>
          <a:solidFill>
            <a:srgbClr val="1E1E2E"/>
          </a:solidFill>
          <a:ln w="9525">
            <a:solidFill>
              <a:srgbClr val="2E2E4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414AC9C-A230-6664-CE93-3C0FF5892E82}"/>
              </a:ext>
            </a:extLst>
          </p:cNvPr>
          <p:cNvSpPr/>
          <p:nvPr/>
        </p:nvSpPr>
        <p:spPr>
          <a:xfrm>
            <a:off x="365760" y="3579163"/>
            <a:ext cx="4672584" cy="16747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</a:t>
            </a:r>
            <a:r>
              <a:rPr lang="en-US" sz="7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gradualStop</a:t>
            </a: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steps = 8;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for(p = steps; p &gt;= 0; p--){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float fraction = (float)p / steps;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curA = baseA * fraction; // baseA=65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curB = baseB * fraction; // baseB=55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Gyro still running during deceleration!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gz2 = readGz()-gz_bias; yaw+=gz2*dt2;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corr2 = constrain(SIGN*Kp_yaw*err2,-30,30);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analogWrite(ENA, curA-corr2);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analogWrite(ENB, curB+corr2);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delay(12); // 8 steps × 12ms = 96ms total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stopMotors(); delay(100);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95706B7-B366-CED5-2B4F-D85AF0ECB962}"/>
              </a:ext>
            </a:extLst>
          </p:cNvPr>
          <p:cNvSpPr/>
          <p:nvPr/>
        </p:nvSpPr>
        <p:spPr>
          <a:xfrm>
            <a:off x="5376672" y="1078992"/>
            <a:ext cx="3493008" cy="694944"/>
          </a:xfrm>
          <a:prstGeom prst="rect">
            <a:avLst/>
          </a:prstGeom>
          <a:solidFill>
            <a:srgbClr val="FAF8F8"/>
          </a:solidFill>
          <a:ln w="6350">
            <a:solidFill>
              <a:srgbClr val="FAF8F8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DEB621D-C2EF-14AF-E7E2-8893B97CEBE6}"/>
              </a:ext>
            </a:extLst>
          </p:cNvPr>
          <p:cNvSpPr/>
          <p:nvPr/>
        </p:nvSpPr>
        <p:spPr>
          <a:xfrm>
            <a:off x="5376672" y="1078992"/>
            <a:ext cx="201168" cy="69494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08149B6-21BB-1EF4-964F-ECEC1B55812B}"/>
              </a:ext>
            </a:extLst>
          </p:cNvPr>
          <p:cNvSpPr/>
          <p:nvPr/>
        </p:nvSpPr>
        <p:spPr>
          <a:xfrm>
            <a:off x="5705856" y="114300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resetCountersSafe()</a:t>
            </a:r>
            <a:endParaRPr lang="en-US" sz="10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A45CF94-394A-D51C-41CD-7F57BAEEAEF4}"/>
              </a:ext>
            </a:extLst>
          </p:cNvPr>
          <p:cNvSpPr/>
          <p:nvPr/>
        </p:nvSpPr>
        <p:spPr>
          <a:xfrm>
            <a:off x="5705856" y="1426464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detachInterrupt → countA=0, countB=0 → delay(10) → attachInterrupt. Prevents stale encoder ticks from last cell traversal corrupting the turn count.</a:t>
            </a:r>
            <a:endParaRPr lang="en-US" sz="9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292327E-3A1B-22E6-7F5C-B6DE0430F294}"/>
              </a:ext>
            </a:extLst>
          </p:cNvPr>
          <p:cNvSpPr/>
          <p:nvPr/>
        </p:nvSpPr>
        <p:spPr>
          <a:xfrm>
            <a:off x="5376672" y="1865376"/>
            <a:ext cx="3493008" cy="694944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D385FAA-E70B-C7F4-C332-4E7AB10EDBF8}"/>
              </a:ext>
            </a:extLst>
          </p:cNvPr>
          <p:cNvSpPr/>
          <p:nvPr/>
        </p:nvSpPr>
        <p:spPr>
          <a:xfrm>
            <a:off x="5376672" y="1865376"/>
            <a:ext cx="201168" cy="69494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7FC6CE4-49A6-4264-2947-2FE8EACDCC1E}"/>
              </a:ext>
            </a:extLst>
          </p:cNvPr>
          <p:cNvSpPr/>
          <p:nvPr/>
        </p:nvSpPr>
        <p:spPr>
          <a:xfrm>
            <a:off x="5705856" y="192938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Tick Control</a:t>
            </a:r>
            <a:endParaRPr lang="en-US" sz="105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D26A543-4812-E3F7-4C8D-E5C52722DD32}"/>
              </a:ext>
            </a:extLst>
          </p:cNvPr>
          <p:cNvSpPr/>
          <p:nvPr/>
        </p:nvSpPr>
        <p:spPr>
          <a:xfrm>
            <a:off x="5705856" y="2212848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turn: if tA &gt; tB+5, slow Motor A to 70% PWM. This keeps both wheels advancing at equal rates, ensuring a straight in-place rotation rather than a curved arc.</a:t>
            </a:r>
            <a:endParaRPr lang="en-US" sz="9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B9328CD-EC84-9187-763C-8AA778D90D08}"/>
              </a:ext>
            </a:extLst>
          </p:cNvPr>
          <p:cNvSpPr/>
          <p:nvPr/>
        </p:nvSpPr>
        <p:spPr>
          <a:xfrm>
            <a:off x="5376672" y="2651760"/>
            <a:ext cx="3493008" cy="694944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BBEE25C-37C0-6F98-0515-F19BEC1B66DB}"/>
              </a:ext>
            </a:extLst>
          </p:cNvPr>
          <p:cNvSpPr/>
          <p:nvPr/>
        </p:nvSpPr>
        <p:spPr>
          <a:xfrm>
            <a:off x="5376672" y="2651760"/>
            <a:ext cx="201168" cy="69494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F9D7244-7343-6624-46D3-524921D80F7E}"/>
              </a:ext>
            </a:extLst>
          </p:cNvPr>
          <p:cNvSpPr/>
          <p:nvPr/>
        </p:nvSpPr>
        <p:spPr>
          <a:xfrm>
            <a:off x="5705856" y="271576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Ramp-Down (85→0 steps of 15)</a:t>
            </a:r>
            <a:endParaRPr lang="en-US" sz="10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985DDD9-5C10-CF64-8CF2-E96B93DD789E}"/>
              </a:ext>
            </a:extLst>
          </p:cNvPr>
          <p:cNvSpPr/>
          <p:nvPr/>
        </p:nvSpPr>
        <p:spPr>
          <a:xfrm>
            <a:off x="5705856" y="299923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85 ticks reached: PWM ramps 85→70→55→40→25→10→0. Each step has 10ms delay. Prevents overshoot from motor momentum — robot stops precisely at 90°.</a:t>
            </a:r>
            <a:endParaRPr lang="en-US" sz="9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D8AAC5F-854B-119F-C934-AD7F05CE9F51}"/>
              </a:ext>
            </a:extLst>
          </p:cNvPr>
          <p:cNvSpPr/>
          <p:nvPr/>
        </p:nvSpPr>
        <p:spPr>
          <a:xfrm>
            <a:off x="5376672" y="3438144"/>
            <a:ext cx="3493008" cy="694944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6E7860EB-7506-57A1-24CD-2813C4EBDADD}"/>
              </a:ext>
            </a:extLst>
          </p:cNvPr>
          <p:cNvSpPr/>
          <p:nvPr/>
        </p:nvSpPr>
        <p:spPr>
          <a:xfrm>
            <a:off x="5376672" y="3438144"/>
            <a:ext cx="201168" cy="69494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4D9FEA8-D348-283C-7B73-37BF720ECAB4}"/>
              </a:ext>
            </a:extLst>
          </p:cNvPr>
          <p:cNvSpPr/>
          <p:nvPr/>
        </p:nvSpPr>
        <p:spPr>
          <a:xfrm>
            <a:off x="5705856" y="350215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gradualStop() — Gyro Active</a:t>
            </a:r>
            <a:endParaRPr lang="en-US" sz="105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D7151FA-AC51-338E-F30A-3F1BAD78A8D1}"/>
              </a:ext>
            </a:extLst>
          </p:cNvPr>
          <p:cNvSpPr/>
          <p:nvPr/>
        </p:nvSpPr>
        <p:spPr>
          <a:xfrm>
            <a:off x="5705856" y="3785616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steps of deceleration (fraction 1.0→0). Gyro PD loop remains running each step. Keeps robot heading stable while decelerating — prevents drift at cell boundaries.</a:t>
            </a:r>
            <a:endParaRPr lang="en-US" sz="9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30F1C3BC-1482-65A1-716B-711B8299F22D}"/>
              </a:ext>
            </a:extLst>
          </p:cNvPr>
          <p:cNvSpPr/>
          <p:nvPr/>
        </p:nvSpPr>
        <p:spPr>
          <a:xfrm>
            <a:off x="5376672" y="4224528"/>
            <a:ext cx="3493008" cy="694944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77800" dist="381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E924B354-653F-991A-56D8-F4267D698AA8}"/>
              </a:ext>
            </a:extLst>
          </p:cNvPr>
          <p:cNvSpPr/>
          <p:nvPr/>
        </p:nvSpPr>
        <p:spPr>
          <a:xfrm>
            <a:off x="5376672" y="4224528"/>
            <a:ext cx="201168" cy="69494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E8CF98AE-C875-43F3-7281-EB8CC2901CF2}"/>
              </a:ext>
            </a:extLst>
          </p:cNvPr>
          <p:cNvSpPr/>
          <p:nvPr/>
        </p:nvSpPr>
        <p:spPr>
          <a:xfrm>
            <a:off x="5705856" y="428853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turnToFace() calls straightenYaw()+fullCenter()</a:t>
            </a:r>
            <a:endParaRPr lang="en-US" sz="105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38E6193-7E03-8983-0D8D-6B95EA968DC5}"/>
              </a:ext>
            </a:extLst>
          </p:cNvPr>
          <p:cNvSpPr/>
          <p:nvPr/>
        </p:nvSpPr>
        <p:spPr>
          <a:xfrm>
            <a:off x="5705856" y="457200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every turn: straightenYaw() uses gyro+walls to correct small heading error. fullCenter() laterally centers between walls. Only then does the 90° turn execute.</a:t>
            </a:r>
            <a:endParaRPr lang="en-US" sz="9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6B258425-4FA6-0284-58D7-56CD6EF2FAFC}"/>
              </a:ext>
            </a:extLst>
          </p:cNvPr>
          <p:cNvSpPr/>
          <p:nvPr/>
        </p:nvSpPr>
        <p:spPr>
          <a:xfrm>
            <a:off x="0" y="4910328"/>
            <a:ext cx="89611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10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1569089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1C83F16-EADD-C3DC-240F-1A568506F1C4}"/>
              </a:ext>
            </a:extLst>
          </p:cNvPr>
          <p:cNvSpPr/>
          <p:nvPr/>
        </p:nvSpPr>
        <p:spPr>
          <a:xfrm>
            <a:off x="347472" y="256032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setup() — Exact Initialization Order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44A49E-D6E0-2C02-4EC5-680748122695}"/>
              </a:ext>
            </a:extLst>
          </p:cNvPr>
          <p:cNvSpPr/>
          <p:nvPr/>
        </p:nvSpPr>
        <p:spPr>
          <a:xfrm>
            <a:off x="373897" y="699516"/>
            <a:ext cx="8449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Serial.begin to resumeDriving() — every step from the code</a:t>
            </a:r>
            <a:endParaRPr lang="en-US" sz="1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4B0926A-BB77-268D-F770-2CF3B699A045}"/>
              </a:ext>
            </a:extLst>
          </p:cNvPr>
          <p:cNvSpPr/>
          <p:nvPr/>
        </p:nvSpPr>
        <p:spPr>
          <a:xfrm>
            <a:off x="256032" y="969264"/>
            <a:ext cx="4434840" cy="4172278"/>
          </a:xfrm>
          <a:prstGeom prst="rect">
            <a:avLst/>
          </a:prstGeom>
          <a:solidFill>
            <a:srgbClr val="1E1E2E"/>
          </a:solidFill>
          <a:ln w="9525">
            <a:solidFill>
              <a:srgbClr val="2E2E4E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90AD8D4-C2F1-717C-6A7E-543995A240C6}"/>
              </a:ext>
            </a:extLst>
          </p:cNvPr>
          <p:cNvSpPr/>
          <p:nvPr/>
        </p:nvSpPr>
        <p:spPr>
          <a:xfrm>
            <a:off x="256032" y="969264"/>
            <a:ext cx="4434840" cy="219456"/>
          </a:xfrm>
          <a:prstGeom prst="rect">
            <a:avLst/>
          </a:prstGeom>
          <a:solidFill>
            <a:srgbClr val="2E2E4E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D43AA18-A909-9B84-CAC5-5FB439B334D8}"/>
              </a:ext>
            </a:extLst>
          </p:cNvPr>
          <p:cNvSpPr/>
          <p:nvPr/>
        </p:nvSpPr>
        <p:spPr>
          <a:xfrm>
            <a:off x="320040" y="1014984"/>
            <a:ext cx="128016" cy="128016"/>
          </a:xfrm>
          <a:prstGeom prst="ellipse">
            <a:avLst/>
          </a:prstGeom>
          <a:solidFill>
            <a:srgbClr val="E8725A"/>
          </a:solidFill>
          <a:ln w="12700">
            <a:solidFill>
              <a:srgbClr val="E8725A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91389E0-EEB6-836F-BADD-E188769E3159}"/>
              </a:ext>
            </a:extLst>
          </p:cNvPr>
          <p:cNvSpPr/>
          <p:nvPr/>
        </p:nvSpPr>
        <p:spPr>
          <a:xfrm>
            <a:off x="484632" y="1014984"/>
            <a:ext cx="128016" cy="128016"/>
          </a:xfrm>
          <a:prstGeom prst="ellipse">
            <a:avLst/>
          </a:prstGeom>
          <a:solidFill>
            <a:srgbClr val="F9E2AF"/>
          </a:solidFill>
          <a:ln w="12700">
            <a:solidFill>
              <a:srgbClr val="F9E2AF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B630352-CC95-1574-8EDD-71E2FEE68900}"/>
              </a:ext>
            </a:extLst>
          </p:cNvPr>
          <p:cNvSpPr/>
          <p:nvPr/>
        </p:nvSpPr>
        <p:spPr>
          <a:xfrm>
            <a:off x="649224" y="1014984"/>
            <a:ext cx="128016" cy="128016"/>
          </a:xfrm>
          <a:prstGeom prst="ellipse">
            <a:avLst/>
          </a:prstGeom>
          <a:solidFill>
            <a:srgbClr val="A6E3A1"/>
          </a:solidFill>
          <a:ln w="12700">
            <a:solidFill>
              <a:srgbClr val="A6E3A1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35A3630-697E-0B10-4F3D-EB0696986FB4}"/>
              </a:ext>
            </a:extLst>
          </p:cNvPr>
          <p:cNvSpPr/>
          <p:nvPr/>
        </p:nvSpPr>
        <p:spPr>
          <a:xfrm>
            <a:off x="365760" y="1243584"/>
            <a:ext cx="4215384" cy="38979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89B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</a:t>
            </a:r>
            <a:r>
              <a:rPr lang="en-US" sz="70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</a:t>
            </a: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Serial.begin(</a:t>
            </a:r>
            <a:r>
              <a:rPr lang="en-US" sz="7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115200</a:t>
            </a: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① Motors + Encoders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pinMode(ENA,OUT); ... stopMotors();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pinMode(ENC_A1,INPUT_PULLUP); // × 4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attachInterrupt(ENC_A1, encoderA_ISR, RISING);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attachInterrupt(ENC_B1, encoderB_ISR, RISING);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② I²C + LiDAR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Wire.begin(</a:t>
            </a:r>
            <a:r>
              <a:rPr lang="en-US" sz="7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7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r>
              <a:rPr lang="en-US" sz="7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// SDA=21 SCL=22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setupSensors(); // XSHUT → 0x30/0x31/0x32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③ MPU6050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if(!mpu.begin()) while(1) delay(</a:t>
            </a:r>
            <a:r>
              <a:rPr lang="en-US" sz="7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7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// halt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mpu.setGyroRange(MPU6050_RANGE_250_DEG);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mpu.setFilterBandwidth(MPU6050_BAND_21_HZ);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④ Calibrate gyro — 2.4s still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</a:t>
            </a:r>
            <a:r>
              <a:rPr lang="en-US" sz="7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calibrateGyro();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⑤ Print sensor distances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Serial.print(readFrontDistance()); // mm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⑥ Init maze with boundary walls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for(i=0;i&lt;8;i++) maze[i][0] |= S_WALL;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for(i=0;i&lt;8;i++) maze[i][7] |= N_WALL;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for(i=0;i&lt;8;i++) maze[0][i] |= W_WALL;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for(i=0;i&lt;8;i++) maze[7][i] |= E_WALL;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9898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⑦ Flood + first decision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initFlood(); posX=0; posY=0; heading=NORTH;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doFloodDecision();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if(goalReached) while(1) delay(</a:t>
            </a:r>
            <a:r>
              <a:rPr lang="en-US" sz="7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</a:t>
            </a:r>
            <a:r>
              <a:rPr lang="en-US" sz="700" dirty="0">
                <a:solidFill>
                  <a:srgbClr val="F9E2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resumeDriving();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CDD6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80048E0-4520-149F-CB67-88F17D6FC473}"/>
              </a:ext>
            </a:extLst>
          </p:cNvPr>
          <p:cNvSpPr/>
          <p:nvPr/>
        </p:nvSpPr>
        <p:spPr>
          <a:xfrm>
            <a:off x="4919472" y="1078992"/>
            <a:ext cx="39502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5E0E4CC-CD6D-153C-1679-35E562EFEAC6}"/>
              </a:ext>
            </a:extLst>
          </p:cNvPr>
          <p:cNvSpPr/>
          <p:nvPr/>
        </p:nvSpPr>
        <p:spPr>
          <a:xfrm>
            <a:off x="4946904" y="1143000"/>
            <a:ext cx="347472" cy="34747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6B4FA0"/>
            </a:solidFill>
            <a:prstDash val="solid"/>
          </a:ln>
          <a:effectLst>
            <a:outerShdw blurRad="50800" dist="50800" dir="5400000" algn="ctr" rotWithShape="0">
              <a:srgbClr val="FAF8F8"/>
            </a:outerShdw>
          </a:effectLst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1BD4DB5-6D73-2D03-1A11-85A84E2A7C37}"/>
              </a:ext>
            </a:extLst>
          </p:cNvPr>
          <p:cNvSpPr/>
          <p:nvPr/>
        </p:nvSpPr>
        <p:spPr>
          <a:xfrm>
            <a:off x="4946904" y="1133856"/>
            <a:ext cx="347472" cy="347472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rgbClr val="FAF8F8"/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007EDAE-090E-91B2-4C86-8DE86E7F81BD}"/>
              </a:ext>
            </a:extLst>
          </p:cNvPr>
          <p:cNvSpPr/>
          <p:nvPr/>
        </p:nvSpPr>
        <p:spPr>
          <a:xfrm>
            <a:off x="5413248" y="1115568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 &amp; Encoders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6F22565-6232-057D-2EBE-2DC79FE48F2F}"/>
              </a:ext>
            </a:extLst>
          </p:cNvPr>
          <p:cNvSpPr/>
          <p:nvPr/>
        </p:nvSpPr>
        <p:spPr>
          <a:xfrm>
            <a:off x="5413248" y="1344168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motor pins OUTPUT. stopMotors(). ENC × 4 INPUT_PULLUP. ISRs attached on RISING.</a:t>
            </a:r>
            <a:endParaRPr lang="en-US" sz="9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9D87FF0-0E41-09C5-335B-FE8317CDD22D}"/>
              </a:ext>
            </a:extLst>
          </p:cNvPr>
          <p:cNvSpPr/>
          <p:nvPr/>
        </p:nvSpPr>
        <p:spPr>
          <a:xfrm>
            <a:off x="4919472" y="1627632"/>
            <a:ext cx="39502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D29E39B-865F-7210-1B1B-49473598E733}"/>
              </a:ext>
            </a:extLst>
          </p:cNvPr>
          <p:cNvSpPr/>
          <p:nvPr/>
        </p:nvSpPr>
        <p:spPr>
          <a:xfrm>
            <a:off x="4946904" y="1691640"/>
            <a:ext cx="347472" cy="34747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9B59C5"/>
            </a:solidFill>
            <a:prstDash val="solid"/>
          </a:ln>
          <a:effectLst>
            <a:outerShdw blurRad="50800" dist="50800" dir="5400000" algn="ctr" rotWithShape="0">
              <a:srgbClr val="FAF8F8"/>
            </a:outerShdw>
          </a:effectLst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3668BDA-BD48-3B62-7C4A-72298CC4577B}"/>
              </a:ext>
            </a:extLst>
          </p:cNvPr>
          <p:cNvSpPr/>
          <p:nvPr/>
        </p:nvSpPr>
        <p:spPr>
          <a:xfrm>
            <a:off x="4946904" y="1682496"/>
            <a:ext cx="347472" cy="347472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rgbClr val="FAF8F8"/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5C9026E-BB09-A54B-3CCE-7834E6D7A91D}"/>
              </a:ext>
            </a:extLst>
          </p:cNvPr>
          <p:cNvSpPr/>
          <p:nvPr/>
        </p:nvSpPr>
        <p:spPr>
          <a:xfrm>
            <a:off x="5413248" y="1664208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+ LiDAR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07864E8-F698-5FB8-EAD8-C358FB416919}"/>
              </a:ext>
            </a:extLst>
          </p:cNvPr>
          <p:cNvSpPr/>
          <p:nvPr/>
        </p:nvSpPr>
        <p:spPr>
          <a:xfrm>
            <a:off x="5413248" y="1892808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Wire.begin(21,22). setupSensors() cycles XSHUT → addresses 0x30/0x31/0x32. 250ms timeout each.</a:t>
            </a:r>
            <a:endParaRPr lang="en-US" sz="9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7A6112E-4980-AAA2-7817-69F0B68DC1E5}"/>
              </a:ext>
            </a:extLst>
          </p:cNvPr>
          <p:cNvSpPr/>
          <p:nvPr/>
        </p:nvSpPr>
        <p:spPr>
          <a:xfrm>
            <a:off x="4919472" y="2176272"/>
            <a:ext cx="39502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6B48D55-B9AD-65C3-0340-E5993E89917F}"/>
              </a:ext>
            </a:extLst>
          </p:cNvPr>
          <p:cNvSpPr/>
          <p:nvPr/>
        </p:nvSpPr>
        <p:spPr>
          <a:xfrm>
            <a:off x="4946904" y="2240280"/>
            <a:ext cx="347472" cy="34747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8B6FC5"/>
            </a:solidFill>
            <a:prstDash val="solid"/>
          </a:ln>
          <a:effectLst>
            <a:outerShdw blurRad="50800" dist="50800" dir="5400000" algn="ctr" rotWithShape="0">
              <a:srgbClr val="FAF8F8"/>
            </a:outerShdw>
          </a:effectLst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47AA23A-AB13-D030-9112-43751D5387FB}"/>
              </a:ext>
            </a:extLst>
          </p:cNvPr>
          <p:cNvSpPr/>
          <p:nvPr/>
        </p:nvSpPr>
        <p:spPr>
          <a:xfrm>
            <a:off x="4946904" y="2231136"/>
            <a:ext cx="347472" cy="347472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rgbClr val="FAF8F8"/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D09C2C4-8527-0462-6843-C4B2282B0903}"/>
              </a:ext>
            </a:extLst>
          </p:cNvPr>
          <p:cNvSpPr/>
          <p:nvPr/>
        </p:nvSpPr>
        <p:spPr>
          <a:xfrm>
            <a:off x="5413248" y="2212848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</a:t>
            </a: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ABBB395-CF57-9F3B-531D-8B6177262E0F}"/>
              </a:ext>
            </a:extLst>
          </p:cNvPr>
          <p:cNvSpPr/>
          <p:nvPr/>
        </p:nvSpPr>
        <p:spPr>
          <a:xfrm>
            <a:off x="5413248" y="2441448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mpu.begin() — halts on fail. Gyro range 250°/s. DLPF bandwidth 21Hz to filter vibration noise.</a:t>
            </a:r>
            <a:endParaRPr lang="en-US" sz="9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3300C86-7A22-1A81-06C8-4E31C820C080}"/>
              </a:ext>
            </a:extLst>
          </p:cNvPr>
          <p:cNvSpPr/>
          <p:nvPr/>
        </p:nvSpPr>
        <p:spPr>
          <a:xfrm>
            <a:off x="4919472" y="2724912"/>
            <a:ext cx="39502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3AF70A94-2C2E-58CC-ADC0-D9DACE867D74}"/>
              </a:ext>
            </a:extLst>
          </p:cNvPr>
          <p:cNvSpPr/>
          <p:nvPr/>
        </p:nvSpPr>
        <p:spPr>
          <a:xfrm>
            <a:off x="4946904" y="2788920"/>
            <a:ext cx="347472" cy="34747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C25FA0"/>
            </a:solidFill>
            <a:prstDash val="solid"/>
          </a:ln>
          <a:effectLst>
            <a:outerShdw blurRad="50800" dist="50800" dir="5400000" algn="ctr" rotWithShape="0">
              <a:srgbClr val="FAF8F8"/>
            </a:outerShdw>
          </a:effectLst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ADE15C6-EC98-526F-D47B-A6B892B0EC1C}"/>
              </a:ext>
            </a:extLst>
          </p:cNvPr>
          <p:cNvSpPr/>
          <p:nvPr/>
        </p:nvSpPr>
        <p:spPr>
          <a:xfrm>
            <a:off x="4946904" y="2779776"/>
            <a:ext cx="347472" cy="347472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rgbClr val="FAF8F8"/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1EA2B24-B44E-AC2D-7C2E-FA2C1698B99E}"/>
              </a:ext>
            </a:extLst>
          </p:cNvPr>
          <p:cNvSpPr/>
          <p:nvPr/>
        </p:nvSpPr>
        <p:spPr>
          <a:xfrm>
            <a:off x="5413248" y="2761488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Gyro Calibration</a:t>
            </a:r>
            <a:endParaRPr lang="en-US" sz="11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B0B12DF-5E43-3368-A3AA-057D42F5E5B5}"/>
              </a:ext>
            </a:extLst>
          </p:cNvPr>
          <p:cNvSpPr/>
          <p:nvPr/>
        </p:nvSpPr>
        <p:spPr>
          <a:xfrm>
            <a:off x="5413248" y="2990088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delay(2000) for mechanical settling. calibrateGyro() takes 2.4s — computes gz_bias from 800 samples.</a:t>
            </a:r>
            <a:endParaRPr lang="en-US" sz="9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2716126F-E0ED-5BDF-CE80-E0FF6F60121E}"/>
              </a:ext>
            </a:extLst>
          </p:cNvPr>
          <p:cNvSpPr/>
          <p:nvPr/>
        </p:nvSpPr>
        <p:spPr>
          <a:xfrm>
            <a:off x="4919472" y="3273552"/>
            <a:ext cx="39502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83079F17-A037-02CB-4654-4B3D3D562E53}"/>
              </a:ext>
            </a:extLst>
          </p:cNvPr>
          <p:cNvSpPr/>
          <p:nvPr/>
        </p:nvSpPr>
        <p:spPr>
          <a:xfrm>
            <a:off x="4946904" y="3337560"/>
            <a:ext cx="347472" cy="34747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E8725A"/>
            </a:solidFill>
            <a:prstDash val="solid"/>
          </a:ln>
          <a:effectLst>
            <a:outerShdw blurRad="50800" dist="50800" dir="5400000" algn="ctr" rotWithShape="0">
              <a:srgbClr val="FAF8F8"/>
            </a:outerShdw>
          </a:effectLst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AAE2DD40-5F07-CFB1-0948-36249108979E}"/>
              </a:ext>
            </a:extLst>
          </p:cNvPr>
          <p:cNvSpPr/>
          <p:nvPr/>
        </p:nvSpPr>
        <p:spPr>
          <a:xfrm>
            <a:off x="4946904" y="3328416"/>
            <a:ext cx="347472" cy="347472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rgbClr val="FAF8F8"/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1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C93DD6D-6A39-3F5A-BD69-5B88BE4BFCE3}"/>
              </a:ext>
            </a:extLst>
          </p:cNvPr>
          <p:cNvSpPr/>
          <p:nvPr/>
        </p:nvSpPr>
        <p:spPr>
          <a:xfrm>
            <a:off x="5413248" y="3310128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Self-Test</a:t>
            </a:r>
            <a:endParaRPr lang="en-US" sz="11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08CA388C-8900-1C82-4587-714385CF692E}"/>
              </a:ext>
            </a:extLst>
          </p:cNvPr>
          <p:cNvSpPr/>
          <p:nvPr/>
        </p:nvSpPr>
        <p:spPr>
          <a:xfrm>
            <a:off x="5413248" y="3538728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Front/Left/Right distances to Serial 115200. Confirms all 3 LiDAR sensors responding before maze start.</a:t>
            </a:r>
            <a:endParaRPr lang="en-US" sz="9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4EEAA8B9-18DC-5F25-E7B6-E5185E6A16CE}"/>
              </a:ext>
            </a:extLst>
          </p:cNvPr>
          <p:cNvSpPr/>
          <p:nvPr/>
        </p:nvSpPr>
        <p:spPr>
          <a:xfrm>
            <a:off x="4919472" y="3822192"/>
            <a:ext cx="39502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395FB8A1-F716-806B-EE71-8F57033C35DA}"/>
              </a:ext>
            </a:extLst>
          </p:cNvPr>
          <p:cNvSpPr/>
          <p:nvPr/>
        </p:nvSpPr>
        <p:spPr>
          <a:xfrm>
            <a:off x="4946904" y="3886200"/>
            <a:ext cx="347472" cy="34747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61BD4F"/>
            </a:solidFill>
            <a:prstDash val="solid"/>
          </a:ln>
          <a:effectLst>
            <a:outerShdw blurRad="50800" dist="50800" dir="5400000" algn="ctr" rotWithShape="0">
              <a:srgbClr val="FAF8F8"/>
            </a:outerShdw>
          </a:effectLst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AC295B2-999C-9D32-6726-D5AA73CDA6D9}"/>
              </a:ext>
            </a:extLst>
          </p:cNvPr>
          <p:cNvSpPr/>
          <p:nvPr/>
        </p:nvSpPr>
        <p:spPr>
          <a:xfrm>
            <a:off x="4946904" y="3877056"/>
            <a:ext cx="347472" cy="347472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rgbClr val="FAF8F8"/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1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5113B14-2F38-6D9C-67C6-11BFBCF04294}"/>
              </a:ext>
            </a:extLst>
          </p:cNvPr>
          <p:cNvSpPr/>
          <p:nvPr/>
        </p:nvSpPr>
        <p:spPr>
          <a:xfrm>
            <a:off x="5413248" y="3858768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 Init</a:t>
            </a:r>
            <a:endParaRPr lang="en-US" sz="11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56705D76-7D92-E144-CAD8-ADFFF0790445}"/>
              </a:ext>
            </a:extLst>
          </p:cNvPr>
          <p:cNvSpPr/>
          <p:nvPr/>
        </p:nvSpPr>
        <p:spPr>
          <a:xfrm>
            <a:off x="5413248" y="4087368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maze[8][8] zeroed. Outer boundary walls set: S on row 0, N on row 7, W on col 0, E on col 7. initFlood() populates distances.</a:t>
            </a:r>
            <a:endParaRPr lang="en-US" sz="9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3B35DAEC-6C7F-D4A6-4C72-861260441BDC}"/>
              </a:ext>
            </a:extLst>
          </p:cNvPr>
          <p:cNvSpPr/>
          <p:nvPr/>
        </p:nvSpPr>
        <p:spPr>
          <a:xfrm>
            <a:off x="4919472" y="4370832"/>
            <a:ext cx="395020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02E845E9-B5FD-94DA-8A20-8FFC2DA2AC79}"/>
              </a:ext>
            </a:extLst>
          </p:cNvPr>
          <p:cNvSpPr/>
          <p:nvPr/>
        </p:nvSpPr>
        <p:spPr>
          <a:xfrm>
            <a:off x="4946904" y="4434840"/>
            <a:ext cx="347472" cy="347472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7B5EA7"/>
            </a:solidFill>
            <a:prstDash val="solid"/>
          </a:ln>
          <a:effectLst>
            <a:outerShdw blurRad="50800" dist="50800" dir="5400000" algn="ctr" rotWithShape="0">
              <a:srgbClr val="FAF8F8"/>
            </a:outerShdw>
          </a:effectLst>
        </p:spPr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174B3DA-1F59-8194-6A24-F209A6F21B45}"/>
              </a:ext>
            </a:extLst>
          </p:cNvPr>
          <p:cNvSpPr/>
          <p:nvPr/>
        </p:nvSpPr>
        <p:spPr>
          <a:xfrm>
            <a:off x="4946904" y="4425696"/>
            <a:ext cx="347472" cy="347472"/>
          </a:xfrm>
          <a:prstGeom prst="rect">
            <a:avLst/>
          </a:prstGeom>
          <a:noFill/>
          <a:ln/>
          <a:effectLst>
            <a:outerShdw blurRad="50800" dist="50800" dir="5400000" algn="ctr" rotWithShape="0">
              <a:srgbClr val="FAF8F8"/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11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56D6B926-C025-8D00-5290-EAD8506813C6}"/>
              </a:ext>
            </a:extLst>
          </p:cNvPr>
          <p:cNvSpPr/>
          <p:nvPr/>
        </p:nvSpPr>
        <p:spPr>
          <a:xfrm>
            <a:off x="5413248" y="4407408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Decision</a:t>
            </a:r>
            <a:endParaRPr lang="en-US" sz="11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F8BCADA7-78F6-4506-3A6A-AB937E76FC61}"/>
              </a:ext>
            </a:extLst>
          </p:cNvPr>
          <p:cNvSpPr/>
          <p:nvPr/>
        </p:nvSpPr>
        <p:spPr>
          <a:xfrm>
            <a:off x="5413248" y="4636008"/>
            <a:ext cx="3364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doFloodDecision() at (0,0,NORTH): sense walls → floodFill → selectDirection → turnToFace(). 2s delay then resumeDriving().</a:t>
            </a:r>
            <a:endParaRPr lang="en-US" sz="9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CBE11455-117D-554F-9BF9-D7C8566491A0}"/>
              </a:ext>
            </a:extLst>
          </p:cNvPr>
          <p:cNvSpPr/>
          <p:nvPr/>
        </p:nvSpPr>
        <p:spPr>
          <a:xfrm>
            <a:off x="0" y="4910328"/>
            <a:ext cx="896112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11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602615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7472" y="292608"/>
            <a:ext cx="8449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Critical Challenge - ESP32 Overvoltage Burn-Out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80467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most significant setback and how we resolved 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4160520" cy="38587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rgbClr val="FAF8F8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4160520" cy="3108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FAF8F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0642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1064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481328"/>
            <a:ext cx="3785616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400" dirty="0"/>
              <a:t>During hardware assembly, we damaged our ESP32 microcontroller and the I/O expander due to overvoltage.</a:t>
            </a:r>
          </a:p>
          <a:p>
            <a:endParaRPr lang="en-GB" sz="1400" dirty="0"/>
          </a:p>
          <a:p>
            <a:r>
              <a:rPr lang="en-GB" sz="1400" b="1" dirty="0"/>
              <a:t>Root Cause</a:t>
            </a:r>
          </a:p>
          <a:p>
            <a:r>
              <a:rPr lang="en-GB" sz="1400" dirty="0"/>
              <a:t>Voltage exceeding the ESP32’s 3.3V logic limit reached the GPIO pins.</a:t>
            </a:r>
          </a:p>
          <a:p>
            <a:r>
              <a:rPr lang="en-GB" sz="1400" dirty="0"/>
              <a:t>Motor back-EMF spikes fed back from the L298N through the PWM lines.</a:t>
            </a:r>
          </a:p>
          <a:p>
            <a:endParaRPr lang="en-GB" sz="1400" dirty="0"/>
          </a:p>
          <a:p>
            <a:r>
              <a:rPr lang="en-GB" sz="1400" b="1" dirty="0"/>
              <a:t>Why It Was Catastrophic</a:t>
            </a:r>
          </a:p>
          <a:p>
            <a:r>
              <a:rPr lang="en-GB" sz="1400" dirty="0"/>
              <a:t>Once the ESP32 GPIO exceeded 3.3V, thermal runaway occurred in the silicon. The chip became permanently damaged and could not be repaired. The I/O expander was also destroyed.</a:t>
            </a:r>
          </a:p>
        </p:txBody>
      </p:sp>
      <p:sp>
        <p:nvSpPr>
          <p:cNvPr id="10" name="Shape 7"/>
          <p:cNvSpPr/>
          <p:nvPr/>
        </p:nvSpPr>
        <p:spPr>
          <a:xfrm>
            <a:off x="4645152" y="1078992"/>
            <a:ext cx="4206240" cy="385876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1078992"/>
            <a:ext cx="4206240" cy="310896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10642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74920" y="110642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Steps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14</a:t>
            </a:r>
            <a:endParaRPr lang="en-US" sz="85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6E0BFCE5-6B8F-5E09-042A-512BC04760A2}"/>
              </a:ext>
            </a:extLst>
          </p:cNvPr>
          <p:cNvSpPr/>
          <p:nvPr/>
        </p:nvSpPr>
        <p:spPr>
          <a:xfrm>
            <a:off x="4855464" y="1513332"/>
            <a:ext cx="3785616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1400" b="1" dirty="0"/>
              <a:t>Backup ESP32</a:t>
            </a:r>
            <a:br>
              <a:rPr lang="en-GB" sz="1400" dirty="0"/>
            </a:br>
            <a:r>
              <a:rPr lang="en-GB" sz="1400" dirty="0"/>
              <a:t>Immediately added the ESP32 to our critical spares list and purchased backups.</a:t>
            </a:r>
          </a:p>
          <a:p>
            <a:endParaRPr lang="en-GB" sz="1400" dirty="0"/>
          </a:p>
          <a:p>
            <a:r>
              <a:rPr lang="en-GB" sz="1400" b="1" dirty="0"/>
              <a:t>Voltage Isolation</a:t>
            </a:r>
            <a:br>
              <a:rPr lang="en-GB" sz="1400" dirty="0"/>
            </a:br>
            <a:r>
              <a:rPr lang="en-GB" sz="1400" dirty="0"/>
              <a:t>Redesigned the power system with dedicated 5V and 3.3V rails. Isolated ESP32 logic lines from the motor supply.</a:t>
            </a:r>
          </a:p>
          <a:p>
            <a:endParaRPr lang="en-GB" sz="1400" dirty="0"/>
          </a:p>
          <a:p>
            <a:r>
              <a:rPr lang="en-GB" sz="1400" b="1" dirty="0"/>
              <a:t>Staged Power Protocol</a:t>
            </a:r>
            <a:br>
              <a:rPr lang="en-GB" sz="1400" dirty="0"/>
            </a:br>
            <a:r>
              <a:rPr lang="en-GB" sz="1400" dirty="0"/>
              <a:t>Implemented a rule to verify all voltages with a </a:t>
            </a:r>
            <a:r>
              <a:rPr lang="en-GB" sz="1400" dirty="0" err="1"/>
              <a:t>multimeter</a:t>
            </a:r>
            <a:r>
              <a:rPr lang="en-GB" sz="1400" dirty="0"/>
              <a:t> before connecting the ESP32. Powered stages sequentially.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7472" y="192024"/>
            <a:ext cx="8449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Testing Strategy - Bottom-Up Validation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695815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→ Integration tests → Full maze solving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962950"/>
            <a:ext cx="2834640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62950"/>
            <a:ext cx="2834640" cy="34747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123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36528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alone</a:t>
            </a:r>
            <a:endParaRPr lang="en-US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694470"/>
            <a:ext cx="2651760" cy="749808"/>
          </a:xfrm>
          <a:prstGeom prst="rect">
            <a:avLst/>
          </a:prstGeom>
          <a:solidFill>
            <a:srgbClr val="FAFAFA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6762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Gyroscope Test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204194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gyroZ_raw, calibrated zero offset, confirmed 90° detection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2535718"/>
            <a:ext cx="2651760" cy="749808"/>
          </a:xfrm>
          <a:prstGeom prst="rect">
            <a:avLst/>
          </a:prstGeom>
          <a:solidFill>
            <a:srgbClr val="FAFAFA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0887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Motor Test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288319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forward/reverse at 5 speeds. Verified encoder pulses per revolution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3376966"/>
            <a:ext cx="2651760" cy="749808"/>
          </a:xfrm>
          <a:prstGeom prst="rect">
            <a:avLst/>
          </a:prstGeom>
          <a:solidFill>
            <a:srgbClr val="FAFAFA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45011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Test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5760" y="372443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VL53L0X tested individually via XSHUT cycling. Accuracy at 10/20/30cm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4320" y="4218214"/>
            <a:ext cx="2651760" cy="749808"/>
          </a:xfrm>
          <a:prstGeom prst="rect">
            <a:avLst/>
          </a:prstGeom>
          <a:solidFill>
            <a:srgbClr val="FAFAFA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29136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Bus Scan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5760" y="456568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all 4 devices at correct addresses on both buses before integration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154680" y="962950"/>
            <a:ext cx="2834640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962950"/>
            <a:ext cx="2834640" cy="3474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98123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46120" y="136528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combined progressively</a:t>
            </a:r>
            <a:endParaRPr lang="en-US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46120" y="1694470"/>
            <a:ext cx="2651760" cy="749808"/>
          </a:xfrm>
          <a:prstGeom prst="rect">
            <a:avLst/>
          </a:prstGeom>
          <a:solidFill>
            <a:srgbClr val="FAFAFA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176762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1: Straight Motion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3337560" y="204194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motors coordinated. Verified encoder sync and ±2mm straight-line tracking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46120" y="2535718"/>
            <a:ext cx="2651760" cy="749808"/>
          </a:xfrm>
          <a:prstGeom prst="rect">
            <a:avLst/>
          </a:prstGeom>
          <a:solidFill>
            <a:srgbClr val="FAFAFA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260887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2: Turn + Algorithm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3337560" y="288319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forward, 90° gyro turn, Flood-Fill direction selection. Angle ±1° accuracy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246120" y="3376966"/>
            <a:ext cx="2651760" cy="749808"/>
          </a:xfrm>
          <a:prstGeom prst="rect">
            <a:avLst/>
          </a:prstGeom>
          <a:solidFill>
            <a:srgbClr val="FAFAFA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345011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3: Closed Loop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3337560" y="372443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full rectangle: fwd → right → fwd → right → back to start. Flood-Fill verified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126480" y="962950"/>
            <a:ext cx="2834640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FAF8F8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962950"/>
            <a:ext cx="2834640" cy="3474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98123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Challenges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17920" y="136528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found &amp; fixed</a:t>
            </a:r>
            <a:endParaRPr lang="en-US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217920" y="1694470"/>
            <a:ext cx="2651760" cy="749808"/>
          </a:xfrm>
          <a:prstGeom prst="rect">
            <a:avLst/>
          </a:prstGeom>
          <a:solidFill>
            <a:srgbClr val="FAFAFA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176762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Drift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6309360" y="204194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speed mismatch. Fixed: encoder PD equalizes speeds every loop cycle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217920" y="2535718"/>
            <a:ext cx="2651760" cy="749808"/>
          </a:xfrm>
          <a:prstGeom prst="rect">
            <a:avLst/>
          </a:prstGeom>
          <a:solidFill>
            <a:srgbClr val="FAFAFA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260887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 Turn Overshoot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6309360" y="288319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Gyro lag caused overshoot. Fixed: dynamic yaw target recalibration + lower Kd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17920" y="3376966"/>
            <a:ext cx="2651760" cy="749808"/>
          </a:xfrm>
          <a:prstGeom prst="rect">
            <a:avLst/>
          </a:prstGeom>
          <a:solidFill>
            <a:srgbClr val="FAFAFA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345011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Noise Spikes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6309360" y="372443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wall detections. Fixed: median filter over 3 readings + min threshold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217920" y="4218214"/>
            <a:ext cx="2651760" cy="749808"/>
          </a:xfrm>
          <a:prstGeom prst="rect">
            <a:avLst/>
          </a:prstGeom>
          <a:solidFill>
            <a:srgbClr val="FAFAFA"/>
          </a:solidFill>
          <a:ln w="6350">
            <a:solidFill>
              <a:srgbClr val="E8E0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429136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Address Conflict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9" name="Text 47"/>
          <p:cNvSpPr/>
          <p:nvPr/>
        </p:nvSpPr>
        <p:spPr>
          <a:xfrm>
            <a:off x="6309360" y="456568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LiDARs same address. Fixed: XSHUT cycling assigns unique addresses at boot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0" name="Text 48"/>
          <p:cNvSpPr/>
          <p:nvPr/>
        </p:nvSpPr>
        <p:spPr>
          <a:xfrm>
            <a:off x="-73152" y="4794286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16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7472" y="292608"/>
            <a:ext cx="8449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22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80467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 goals achieved — competition-ready MicroMouse robot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82880" y="1336742"/>
            <a:ext cx="4251960" cy="3002085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sz="1200" dirty="0"/>
          </a:p>
        </p:txBody>
      </p:sp>
      <p:sp>
        <p:nvSpPr>
          <p:cNvPr id="22" name="Shape 20"/>
          <p:cNvSpPr/>
          <p:nvPr/>
        </p:nvSpPr>
        <p:spPr>
          <a:xfrm>
            <a:off x="182880" y="1336743"/>
            <a:ext cx="4251960" cy="27432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1355031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Well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4681728" y="1336743"/>
            <a:ext cx="4114800" cy="3023226"/>
          </a:xfrm>
          <a:prstGeom prst="rect">
            <a:avLst/>
          </a:prstGeom>
          <a:solidFill>
            <a:srgbClr val="FAF8F8"/>
          </a:solidFill>
          <a:ln w="6350">
            <a:solidFill>
              <a:srgbClr val="E8E0F0"/>
            </a:solidFill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681728" y="1336743"/>
            <a:ext cx="4114800" cy="27432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rgbClr val="FAF8F8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809744" y="1355031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Lessons Learned</a:t>
            </a:r>
            <a:endParaRPr lang="en-US" sz="1400" dirty="0"/>
          </a:p>
        </p:txBody>
      </p:sp>
      <p:sp>
        <p:nvSpPr>
          <p:cNvPr id="47" name="Text 4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48" name="Text 7">
            <a:extLst>
              <a:ext uri="{FF2B5EF4-FFF2-40B4-BE49-F238E27FC236}">
                <a16:creationId xmlns:a16="http://schemas.microsoft.com/office/drawing/2014/main" id="{E57C7EAD-F73F-049D-B47F-B2DD58A5355C}"/>
              </a:ext>
            </a:extLst>
          </p:cNvPr>
          <p:cNvSpPr/>
          <p:nvPr/>
        </p:nvSpPr>
        <p:spPr>
          <a:xfrm>
            <a:off x="347472" y="1765005"/>
            <a:ext cx="4087368" cy="23297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GB" sz="1400" dirty="0"/>
              <a:t>- Flood-Fill navigated all test mazes without getting stuck</a:t>
            </a:r>
          </a:p>
          <a:p>
            <a:r>
              <a:rPr lang="en-GB" sz="1400" dirty="0"/>
              <a:t>- PD controller maintained ±2 mm straight-line motion</a:t>
            </a:r>
          </a:p>
          <a:p>
            <a:r>
              <a:rPr lang="en-GB" sz="1400" dirty="0"/>
              <a:t>- Gyroscope achieved consistent 90° turns with ±1° accuracy</a:t>
            </a:r>
          </a:p>
          <a:p>
            <a:r>
              <a:rPr lang="en-GB" sz="1400" dirty="0"/>
              <a:t>- </a:t>
            </a:r>
            <a:r>
              <a:rPr lang="en-GB" sz="1400" dirty="0" err="1"/>
              <a:t>WiFi</a:t>
            </a:r>
            <a:r>
              <a:rPr lang="en-GB" sz="1400" dirty="0"/>
              <a:t> dashboard reduced PID tuning time from hours to minutes</a:t>
            </a:r>
          </a:p>
          <a:p>
            <a:r>
              <a:rPr lang="en-GB" sz="1400" dirty="0"/>
              <a:t>- 3-LiDAR setup reliably detected all maze walls</a:t>
            </a:r>
          </a:p>
        </p:txBody>
      </p:sp>
      <p:sp>
        <p:nvSpPr>
          <p:cNvPr id="54" name="Text 7">
            <a:extLst>
              <a:ext uri="{FF2B5EF4-FFF2-40B4-BE49-F238E27FC236}">
                <a16:creationId xmlns:a16="http://schemas.microsoft.com/office/drawing/2014/main" id="{552A1EAB-A00D-1D87-2EDE-1338686C9190}"/>
              </a:ext>
            </a:extLst>
          </p:cNvPr>
          <p:cNvSpPr/>
          <p:nvPr/>
        </p:nvSpPr>
        <p:spPr>
          <a:xfrm>
            <a:off x="4809744" y="1765004"/>
            <a:ext cx="4087368" cy="23297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r>
              <a:rPr lang="en-GB" sz="1400" dirty="0"/>
              <a:t>- Always add voltage protection before connecting the MCU</a:t>
            </a:r>
          </a:p>
          <a:p>
            <a:r>
              <a:rPr lang="en-GB" sz="1400" dirty="0"/>
              <a:t>- Unit test every component before full system integration</a:t>
            </a:r>
          </a:p>
          <a:p>
            <a:r>
              <a:rPr lang="en-GB" sz="1400" dirty="0"/>
              <a:t>- Keep backup critical components on hand</a:t>
            </a:r>
          </a:p>
          <a:p>
            <a:r>
              <a:rPr lang="en-GB" sz="1400" dirty="0"/>
              <a:t>- Live tuning dashboards significantly reduce iteration time</a:t>
            </a:r>
          </a:p>
          <a:p>
            <a:r>
              <a:rPr lang="en-GB" sz="1400" dirty="0"/>
              <a:t>- Sensor fusion outperforms single-sensor approaches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47472" y="292608"/>
            <a:ext cx="8449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4E"/>
                </a:solidFill>
                <a:latin typeface="Berlin Sans FB Demi" panose="020E0802020502020306" pitchFamily="34" charset="0"/>
                <a:ea typeface="Calibri" pitchFamily="34" charset="-122"/>
                <a:cs typeface="Calibri" pitchFamily="34" charset="-120"/>
              </a:rPr>
              <a:t>Future Work &amp; Improvements</a:t>
            </a:r>
            <a:endParaRPr lang="en-US" sz="2400" dirty="0">
              <a:latin typeface="Berlin Sans FB Demi" panose="020E0802020502020306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7472" y="80467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project could go next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4315968" cy="1933956"/>
          </a:xfrm>
          <a:prstGeom prst="rect">
            <a:avLst/>
          </a:prstGeom>
          <a:solidFill>
            <a:srgbClr val="FAF8F8"/>
          </a:solidFill>
          <a:ln w="6350">
            <a:noFill/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4315968" cy="384048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noFill/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112014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Optimization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0624" y="1746504"/>
            <a:ext cx="219456" cy="21945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737360"/>
            <a:ext cx="37033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Sprint-phase acceleration profiling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" y="2167128"/>
            <a:ext cx="219456" cy="21945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157984"/>
            <a:ext cx="37033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movement to cut maze corners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0624" y="2587752"/>
            <a:ext cx="219456" cy="21945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2578608"/>
            <a:ext cx="37033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auto-tuning via web dashboard slider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1078992"/>
            <a:ext cx="4315968" cy="1933956"/>
          </a:xfrm>
          <a:prstGeom prst="rect">
            <a:avLst/>
          </a:prstGeom>
          <a:solidFill>
            <a:srgbClr val="FAF8F8"/>
          </a:solidFill>
          <a:ln w="6350">
            <a:noFill/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1078992"/>
            <a:ext cx="4315968" cy="384048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noFill/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55464" y="113385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Upgrades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919472" y="1746504"/>
            <a:ext cx="219456" cy="219456"/>
          </a:xfrm>
          <a:prstGeom prst="ellipse">
            <a:avLst/>
          </a:prstGeom>
          <a:solidFill>
            <a:srgbClr val="9B59C5"/>
          </a:solidFill>
          <a:ln w="12700">
            <a:noFill/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230368" y="1737360"/>
            <a:ext cx="37033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PETG or CF-reinforced PLA chassis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919472" y="2167128"/>
            <a:ext cx="219456" cy="219456"/>
          </a:xfrm>
          <a:prstGeom prst="ellipse">
            <a:avLst/>
          </a:prstGeom>
          <a:solidFill>
            <a:srgbClr val="9B59C5"/>
          </a:solidFill>
          <a:ln w="12700">
            <a:noFill/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230368" y="2157984"/>
            <a:ext cx="37033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footprint — more agile navigation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919472" y="2587752"/>
            <a:ext cx="219456" cy="219456"/>
          </a:xfrm>
          <a:prstGeom prst="ellipse">
            <a:avLst/>
          </a:prstGeom>
          <a:solidFill>
            <a:srgbClr val="9B59C5"/>
          </a:solidFill>
          <a:ln w="12700">
            <a:noFill/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230368" y="2578608"/>
            <a:ext cx="37033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±0.5° LiDAR mounting precision bracket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2414016" y="3063240"/>
            <a:ext cx="4315968" cy="1847088"/>
          </a:xfrm>
          <a:prstGeom prst="rect">
            <a:avLst/>
          </a:prstGeom>
          <a:solidFill>
            <a:srgbClr val="FAF8F8"/>
          </a:solidFill>
          <a:ln w="6350">
            <a:noFill/>
            <a:prstDash val="solid"/>
          </a:ln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2414016" y="3109136"/>
            <a:ext cx="4315968" cy="384048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noFill/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560320" y="310438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Enhancements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2578608" y="3730752"/>
            <a:ext cx="219456" cy="219456"/>
          </a:xfrm>
          <a:prstGeom prst="ellipse">
            <a:avLst/>
          </a:prstGeom>
          <a:solidFill>
            <a:srgbClr val="C25FA0"/>
          </a:solidFill>
          <a:ln w="12700">
            <a:noFill/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889504" y="3721608"/>
            <a:ext cx="37033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heuristic layer over Flood-Fill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2578608" y="4151376"/>
            <a:ext cx="219456" cy="219456"/>
          </a:xfrm>
          <a:prstGeom prst="ellipse">
            <a:avLst/>
          </a:prstGeom>
          <a:solidFill>
            <a:srgbClr val="C25FA0"/>
          </a:solidFill>
          <a:ln w="12700">
            <a:noFill/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889504" y="4142232"/>
            <a:ext cx="37033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EEPROM maze persistence across power cycles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2578608" y="4572000"/>
            <a:ext cx="219456" cy="219456"/>
          </a:xfrm>
          <a:prstGeom prst="ellipse">
            <a:avLst/>
          </a:prstGeom>
          <a:solidFill>
            <a:srgbClr val="C25FA0"/>
          </a:solidFill>
          <a:ln w="12700">
            <a:noFill/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2889504" y="4562856"/>
            <a:ext cx="37033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mobile config app</a:t>
            </a:r>
            <a:endParaRPr lang="en-US" sz="1200" dirty="0"/>
          </a:p>
        </p:txBody>
      </p:sp>
      <p:sp>
        <p:nvSpPr>
          <p:cNvPr id="45" name="Text 39"/>
          <p:cNvSpPr/>
          <p:nvPr/>
        </p:nvSpPr>
        <p:spPr>
          <a:xfrm>
            <a:off x="0" y="4889062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57E74563-A185-BDE4-B506-3D5AA575213B}"/>
              </a:ext>
            </a:extLst>
          </p:cNvPr>
          <p:cNvSpPr/>
          <p:nvPr/>
        </p:nvSpPr>
        <p:spPr>
          <a:xfrm>
            <a:off x="4910328" y="1737360"/>
            <a:ext cx="219456" cy="21945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</p:sp>
      <p:sp>
        <p:nvSpPr>
          <p:cNvPr id="47" name="Shape 8">
            <a:extLst>
              <a:ext uri="{FF2B5EF4-FFF2-40B4-BE49-F238E27FC236}">
                <a16:creationId xmlns:a16="http://schemas.microsoft.com/office/drawing/2014/main" id="{B57315E3-E5CC-D979-FFD2-A6E87D12E0C6}"/>
              </a:ext>
            </a:extLst>
          </p:cNvPr>
          <p:cNvSpPr/>
          <p:nvPr/>
        </p:nvSpPr>
        <p:spPr>
          <a:xfrm>
            <a:off x="4910328" y="2157984"/>
            <a:ext cx="219456" cy="21945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4C7DCAD6-BC97-02D0-A58E-60D250D1562A}"/>
              </a:ext>
            </a:extLst>
          </p:cNvPr>
          <p:cNvSpPr/>
          <p:nvPr/>
        </p:nvSpPr>
        <p:spPr>
          <a:xfrm>
            <a:off x="4910328" y="2578608"/>
            <a:ext cx="219456" cy="21945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</p:sp>
      <p:sp>
        <p:nvSpPr>
          <p:cNvPr id="49" name="Shape 6">
            <a:extLst>
              <a:ext uri="{FF2B5EF4-FFF2-40B4-BE49-F238E27FC236}">
                <a16:creationId xmlns:a16="http://schemas.microsoft.com/office/drawing/2014/main" id="{22D174F3-7D82-866C-467A-F3C09F0B06B5}"/>
              </a:ext>
            </a:extLst>
          </p:cNvPr>
          <p:cNvSpPr/>
          <p:nvPr/>
        </p:nvSpPr>
        <p:spPr>
          <a:xfrm>
            <a:off x="2584279" y="3730752"/>
            <a:ext cx="219456" cy="21945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</p:sp>
      <p:sp>
        <p:nvSpPr>
          <p:cNvPr id="50" name="Shape 8">
            <a:extLst>
              <a:ext uri="{FF2B5EF4-FFF2-40B4-BE49-F238E27FC236}">
                <a16:creationId xmlns:a16="http://schemas.microsoft.com/office/drawing/2014/main" id="{4A9AAC28-D554-C663-F475-47FBD7624BA4}"/>
              </a:ext>
            </a:extLst>
          </p:cNvPr>
          <p:cNvSpPr/>
          <p:nvPr/>
        </p:nvSpPr>
        <p:spPr>
          <a:xfrm>
            <a:off x="2584279" y="4151376"/>
            <a:ext cx="219456" cy="21945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</p:sp>
      <p:sp>
        <p:nvSpPr>
          <p:cNvPr id="51" name="Shape 10">
            <a:extLst>
              <a:ext uri="{FF2B5EF4-FFF2-40B4-BE49-F238E27FC236}">
                <a16:creationId xmlns:a16="http://schemas.microsoft.com/office/drawing/2014/main" id="{EF45A4DB-E0E6-1683-B90B-DC9958E3F751}"/>
              </a:ext>
            </a:extLst>
          </p:cNvPr>
          <p:cNvSpPr/>
          <p:nvPr/>
        </p:nvSpPr>
        <p:spPr>
          <a:xfrm>
            <a:off x="2584279" y="4572000"/>
            <a:ext cx="219456" cy="21945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012768" y="2011680"/>
            <a:ext cx="484414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4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880360" y="418447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D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MicroMouse Robot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D0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Techniques 2025–2026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434840" y="347472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34" name="Text 26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89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35" name="Shape 0">
            <a:extLst>
              <a:ext uri="{FF2B5EF4-FFF2-40B4-BE49-F238E27FC236}">
                <a16:creationId xmlns:a16="http://schemas.microsoft.com/office/drawing/2014/main" id="{16953E66-5CA4-F77E-7958-53936E16E808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6" name="Shape 1">
            <a:extLst>
              <a:ext uri="{FF2B5EF4-FFF2-40B4-BE49-F238E27FC236}">
                <a16:creationId xmlns:a16="http://schemas.microsoft.com/office/drawing/2014/main" id="{B5B4F9AC-724F-B0BC-8003-F094153BFE95}"/>
              </a:ext>
            </a:extLst>
          </p:cNvPr>
          <p:cNvSpPr/>
          <p:nvPr/>
        </p:nvSpPr>
        <p:spPr>
          <a:xfrm>
            <a:off x="164592" y="0"/>
            <a:ext cx="164592" cy="51435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815C9131-E42F-9FF6-1EBF-A4EA3093D27D}"/>
              </a:ext>
            </a:extLst>
          </p:cNvPr>
          <p:cNvSpPr/>
          <p:nvPr/>
        </p:nvSpPr>
        <p:spPr>
          <a:xfrm>
            <a:off x="329184" y="0"/>
            <a:ext cx="164592" cy="51435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Shape 0">
            <a:extLst>
              <a:ext uri="{FF2B5EF4-FFF2-40B4-BE49-F238E27FC236}">
                <a16:creationId xmlns:a16="http://schemas.microsoft.com/office/drawing/2014/main" id="{1B3BBD2C-B7C1-9B29-31F6-284B3719365E}"/>
              </a:ext>
            </a:extLst>
          </p:cNvPr>
          <p:cNvSpPr/>
          <p:nvPr/>
        </p:nvSpPr>
        <p:spPr>
          <a:xfrm>
            <a:off x="8650224" y="0"/>
            <a:ext cx="164592" cy="51435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9" name="Shape 1">
            <a:extLst>
              <a:ext uri="{FF2B5EF4-FFF2-40B4-BE49-F238E27FC236}">
                <a16:creationId xmlns:a16="http://schemas.microsoft.com/office/drawing/2014/main" id="{DB3ED07E-852B-D56F-3379-A1377F976DB9}"/>
              </a:ext>
            </a:extLst>
          </p:cNvPr>
          <p:cNvSpPr/>
          <p:nvPr/>
        </p:nvSpPr>
        <p:spPr>
          <a:xfrm>
            <a:off x="8814816" y="0"/>
            <a:ext cx="164592" cy="51435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0" name="Shape 2">
            <a:extLst>
              <a:ext uri="{FF2B5EF4-FFF2-40B4-BE49-F238E27FC236}">
                <a16:creationId xmlns:a16="http://schemas.microsoft.com/office/drawing/2014/main" id="{950895D6-7546-2E87-5384-4401CCD921DE}"/>
              </a:ext>
            </a:extLst>
          </p:cNvPr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54F72"/>
      </a:accent1>
      <a:accent2>
        <a:srgbClr val="4A2739"/>
      </a:accent2>
      <a:accent3>
        <a:srgbClr val="C490AA"/>
      </a:accent3>
      <a:accent4>
        <a:srgbClr val="D7B5C6"/>
      </a:accent4>
      <a:accent5>
        <a:srgbClr val="EBDAE2"/>
      </a:accent5>
      <a:accent6>
        <a:srgbClr val="ADB9CA"/>
      </a:accent6>
      <a:hlink>
        <a:srgbClr val="D6DCE4"/>
      </a:hlink>
      <a:folHlink>
        <a:srgbClr val="8496B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1276</TotalTime>
  <Words>6575</Words>
  <Application>Microsoft Office PowerPoint</Application>
  <PresentationFormat>On-screen Show (16:9)</PresentationFormat>
  <Paragraphs>994</Paragraphs>
  <Slides>28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Berlin Sans FB Demi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MicroMouse — Interfacing Techniques</dc:title>
  <dc:subject>PptxGenJS Presentation</dc:subject>
  <dc:creator>PptxGenJS</dc:creator>
  <cp:lastModifiedBy>Noah Parker</cp:lastModifiedBy>
  <cp:revision>4</cp:revision>
  <dcterms:created xsi:type="dcterms:W3CDTF">2026-02-28T11:00:29Z</dcterms:created>
  <dcterms:modified xsi:type="dcterms:W3CDTF">2026-03-01T08:39:05Z</dcterms:modified>
</cp:coreProperties>
</file>